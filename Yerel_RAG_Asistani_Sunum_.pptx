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95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891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8961120" y="-1371600"/>
            <a:ext cx="5486400" cy="5486400"/>
          </a:xfrm>
          <a:prstGeom prst="ellipse">
            <a:avLst/>
          </a:prstGeom>
          <a:solidFill>
            <a:srgbClr val="0F766E">
              <a:alpha val="30000"/>
            </a:srgbClr>
          </a:solidFill>
          <a:ln/>
        </p:spPr>
        <p:txBody>
          <a:bodyPr/>
          <a:lstStyle/>
          <a:p>
            <a:endParaRPr lang="en-US"/>
          </a:p>
        </p:txBody>
      </p:sp>
      <p:sp>
        <p:nvSpPr>
          <p:cNvPr id="3" name="Shape 1"/>
          <p:cNvSpPr/>
          <p:nvPr/>
        </p:nvSpPr>
        <p:spPr>
          <a:xfrm>
            <a:off x="-1371600" y="4114800"/>
            <a:ext cx="4572000" cy="4572000"/>
          </a:xfrm>
          <a:prstGeom prst="ellipse">
            <a:avLst/>
          </a:prstGeom>
          <a:solidFill>
            <a:srgbClr val="0F766E">
              <a:alpha val="20000"/>
            </a:srgbClr>
          </a:solidFill>
          <a:ln/>
        </p:spPr>
        <p:txBody>
          <a:bodyPr/>
          <a:lstStyle/>
          <a:p>
            <a:endParaRPr lang="en-US"/>
          </a:p>
        </p:txBody>
      </p:sp>
      <p:sp>
        <p:nvSpPr>
          <p:cNvPr id="4" name="Text 2"/>
          <p:cNvSpPr/>
          <p:nvPr/>
        </p:nvSpPr>
        <p:spPr>
          <a:xfrm>
            <a:off x="822960" y="2240280"/>
            <a:ext cx="10515600" cy="91440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YEREL RAG ASİSTANI</a:t>
            </a:r>
            <a:endParaRPr lang="en-US" sz="4400" dirty="0"/>
          </a:p>
        </p:txBody>
      </p:sp>
      <p:sp>
        <p:nvSpPr>
          <p:cNvPr id="5" name="Text 3"/>
          <p:cNvSpPr/>
          <p:nvPr/>
        </p:nvSpPr>
        <p:spPr>
          <a:xfrm>
            <a:off x="822960" y="3108960"/>
            <a:ext cx="9601200" cy="548640"/>
          </a:xfrm>
          <a:prstGeom prst="rect">
            <a:avLst/>
          </a:prstGeom>
          <a:noFill/>
          <a:ln/>
        </p:spPr>
        <p:txBody>
          <a:bodyPr wrap="square" rtlCol="0" anchor="ctr"/>
          <a:lstStyle/>
          <a:p>
            <a:pPr marL="0" indent="0">
              <a:buNone/>
            </a:pPr>
            <a:r>
              <a:rPr lang="en-US" sz="1800" dirty="0">
                <a:solidFill>
                  <a:srgbClr val="2DD4BF"/>
                </a:solidFill>
                <a:latin typeface="Calibri" pitchFamily="34" charset="0"/>
                <a:ea typeface="Calibri" pitchFamily="34" charset="-122"/>
                <a:cs typeface="Calibri" pitchFamily="34" charset="-120"/>
              </a:rPr>
              <a:t>Microsoft Foundry Local ile Çevrimdışı Çalışan Yapay Zeka Soru-Cevap Sistemi</a:t>
            </a:r>
            <a:endParaRPr lang="en-US" sz="1800" dirty="0"/>
          </a:p>
        </p:txBody>
      </p:sp>
      <p:sp>
        <p:nvSpPr>
          <p:cNvPr id="6" name="Shape 4"/>
          <p:cNvSpPr/>
          <p:nvPr/>
        </p:nvSpPr>
        <p:spPr>
          <a:xfrm>
            <a:off x="822960" y="3886200"/>
            <a:ext cx="502920" cy="45720"/>
          </a:xfrm>
          <a:prstGeom prst="rect">
            <a:avLst/>
          </a:prstGeom>
          <a:solidFill>
            <a:srgbClr val="2DD4BF"/>
          </a:solidFill>
          <a:ln/>
        </p:spPr>
        <p:txBody>
          <a:bodyPr/>
          <a:lstStyle/>
          <a:p>
            <a:endParaRPr lang="en-US"/>
          </a:p>
        </p:txBody>
      </p:sp>
      <p:sp>
        <p:nvSpPr>
          <p:cNvPr id="7" name="Text 5"/>
          <p:cNvSpPr/>
          <p:nvPr/>
        </p:nvSpPr>
        <p:spPr>
          <a:xfrm>
            <a:off x="822960" y="4069080"/>
            <a:ext cx="7315200" cy="365760"/>
          </a:xfrm>
          <a:prstGeom prst="rect">
            <a:avLst/>
          </a:prstGeom>
          <a:noFill/>
          <a:ln/>
        </p:spPr>
        <p:txBody>
          <a:bodyPr wrap="square"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Teknik Dokümantasyon ve Sunum</a:t>
            </a:r>
            <a:endParaRPr lang="en-US" sz="1400" dirty="0"/>
          </a:p>
        </p:txBody>
      </p:sp>
      <p:sp>
        <p:nvSpPr>
          <p:cNvPr id="8" name="Text 6"/>
          <p:cNvSpPr/>
          <p:nvPr/>
        </p:nvSpPr>
        <p:spPr>
          <a:xfrm>
            <a:off x="822960" y="5852160"/>
            <a:ext cx="8229600" cy="365760"/>
          </a:xfrm>
          <a:prstGeom prst="rect">
            <a:avLst/>
          </a:prstGeom>
          <a:noFill/>
          <a:ln/>
        </p:spPr>
        <p:txBody>
          <a:bodyPr wrap="square" rtlCol="0" anchor="ctr"/>
          <a:lstStyle/>
          <a:p>
            <a:pPr marL="0" indent="0">
              <a:buNone/>
            </a:pPr>
            <a:r>
              <a:rPr lang="en-US" sz="1400" dirty="0">
                <a:solidFill>
                  <a:srgbClr val="94A3B8"/>
                </a:solidFill>
                <a:latin typeface="Calibri" pitchFamily="34" charset="0"/>
                <a:ea typeface="Calibri" pitchFamily="34" charset="-122"/>
                <a:cs typeface="Calibri" pitchFamily="34" charset="-120"/>
              </a:rPr>
              <a:t>Nurefşan  ·  Bilgisayar Mühendisliği  ·  Microsoft Summer School 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İçindekiler</a:t>
            </a:r>
            <a:endParaRPr lang="en-US" sz="2700" dirty="0"/>
          </a:p>
        </p:txBody>
      </p:sp>
      <p:sp>
        <p:nvSpPr>
          <p:cNvPr id="3" name="Shape 1"/>
          <p:cNvSpPr/>
          <p:nvPr/>
        </p:nvSpPr>
        <p:spPr>
          <a:xfrm>
            <a:off x="822960" y="1371600"/>
            <a:ext cx="365760" cy="365760"/>
          </a:xfrm>
          <a:prstGeom prst="ellipse">
            <a:avLst/>
          </a:prstGeom>
          <a:solidFill>
            <a:srgbClr val="2DD4BF">
              <a:alpha val="80000"/>
            </a:srgbClr>
          </a:solidFill>
          <a:ln/>
        </p:spPr>
        <p:txBody>
          <a:bodyPr/>
          <a:lstStyle/>
          <a:p>
            <a:endParaRPr lang="en-US"/>
          </a:p>
        </p:txBody>
      </p:sp>
      <p:sp>
        <p:nvSpPr>
          <p:cNvPr id="4" name="Text 2"/>
          <p:cNvSpPr/>
          <p:nvPr/>
        </p:nvSpPr>
        <p:spPr>
          <a:xfrm>
            <a:off x="822960" y="1371600"/>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325880" y="1344168"/>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Problem: LLM Halüsinasyonu</a:t>
            </a:r>
            <a:endParaRPr lang="en-US" sz="1350" dirty="0"/>
          </a:p>
        </p:txBody>
      </p:sp>
      <p:sp>
        <p:nvSpPr>
          <p:cNvPr id="6" name="Shape 4"/>
          <p:cNvSpPr/>
          <p:nvPr/>
        </p:nvSpPr>
        <p:spPr>
          <a:xfrm>
            <a:off x="822960" y="1938528"/>
            <a:ext cx="365760" cy="365760"/>
          </a:xfrm>
          <a:prstGeom prst="ellipse">
            <a:avLst/>
          </a:prstGeom>
          <a:solidFill>
            <a:srgbClr val="2DD4BF">
              <a:alpha val="80000"/>
            </a:srgbClr>
          </a:solidFill>
          <a:ln/>
        </p:spPr>
        <p:txBody>
          <a:bodyPr/>
          <a:lstStyle/>
          <a:p>
            <a:endParaRPr lang="en-US"/>
          </a:p>
        </p:txBody>
      </p:sp>
      <p:sp>
        <p:nvSpPr>
          <p:cNvPr id="7" name="Text 5"/>
          <p:cNvSpPr/>
          <p:nvPr/>
        </p:nvSpPr>
        <p:spPr>
          <a:xfrm>
            <a:off x="822960" y="1938528"/>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325880" y="1911096"/>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Çözüm: RAG Mimarisi</a:t>
            </a:r>
            <a:endParaRPr lang="en-US" sz="1350" dirty="0"/>
          </a:p>
        </p:txBody>
      </p:sp>
      <p:sp>
        <p:nvSpPr>
          <p:cNvPr id="9" name="Shape 7"/>
          <p:cNvSpPr/>
          <p:nvPr/>
        </p:nvSpPr>
        <p:spPr>
          <a:xfrm>
            <a:off x="822960" y="2505456"/>
            <a:ext cx="365760" cy="365760"/>
          </a:xfrm>
          <a:prstGeom prst="ellipse">
            <a:avLst/>
          </a:prstGeom>
          <a:solidFill>
            <a:srgbClr val="2DD4BF">
              <a:alpha val="80000"/>
            </a:srgbClr>
          </a:solidFill>
          <a:ln/>
        </p:spPr>
        <p:txBody>
          <a:bodyPr/>
          <a:lstStyle/>
          <a:p>
            <a:endParaRPr lang="en-US"/>
          </a:p>
        </p:txBody>
      </p:sp>
      <p:sp>
        <p:nvSpPr>
          <p:cNvPr id="10" name="Text 8"/>
          <p:cNvSpPr/>
          <p:nvPr/>
        </p:nvSpPr>
        <p:spPr>
          <a:xfrm>
            <a:off x="822960" y="2505456"/>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3</a:t>
            </a:r>
            <a:endParaRPr lang="en-US" sz="1300" dirty="0"/>
          </a:p>
        </p:txBody>
      </p:sp>
      <p:sp>
        <p:nvSpPr>
          <p:cNvPr id="11" name="Text 9"/>
          <p:cNvSpPr/>
          <p:nvPr/>
        </p:nvSpPr>
        <p:spPr>
          <a:xfrm>
            <a:off x="1325880" y="2478024"/>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Sistem Mimarisi ve Veri Akışı</a:t>
            </a:r>
            <a:endParaRPr lang="en-US" sz="1350" dirty="0"/>
          </a:p>
        </p:txBody>
      </p:sp>
      <p:sp>
        <p:nvSpPr>
          <p:cNvPr id="12" name="Shape 10"/>
          <p:cNvSpPr/>
          <p:nvPr/>
        </p:nvSpPr>
        <p:spPr>
          <a:xfrm>
            <a:off x="822960" y="3072384"/>
            <a:ext cx="365760" cy="365760"/>
          </a:xfrm>
          <a:prstGeom prst="ellipse">
            <a:avLst/>
          </a:prstGeom>
          <a:solidFill>
            <a:srgbClr val="2DD4BF">
              <a:alpha val="80000"/>
            </a:srgbClr>
          </a:solidFill>
          <a:ln/>
        </p:spPr>
        <p:txBody>
          <a:bodyPr/>
          <a:lstStyle/>
          <a:p>
            <a:endParaRPr lang="en-US"/>
          </a:p>
        </p:txBody>
      </p:sp>
      <p:sp>
        <p:nvSpPr>
          <p:cNvPr id="13" name="Text 11"/>
          <p:cNvSpPr/>
          <p:nvPr/>
        </p:nvSpPr>
        <p:spPr>
          <a:xfrm>
            <a:off x="822960" y="3072384"/>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1325880" y="3044952"/>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Kullanılan Teknolojiler</a:t>
            </a:r>
            <a:endParaRPr lang="en-US" sz="1350" dirty="0"/>
          </a:p>
        </p:txBody>
      </p:sp>
      <p:sp>
        <p:nvSpPr>
          <p:cNvPr id="15" name="Shape 13"/>
          <p:cNvSpPr/>
          <p:nvPr/>
        </p:nvSpPr>
        <p:spPr>
          <a:xfrm>
            <a:off x="822960" y="3639312"/>
            <a:ext cx="365760" cy="365760"/>
          </a:xfrm>
          <a:prstGeom prst="ellipse">
            <a:avLst/>
          </a:prstGeom>
          <a:solidFill>
            <a:srgbClr val="2DD4BF">
              <a:alpha val="80000"/>
            </a:srgbClr>
          </a:solidFill>
          <a:ln/>
        </p:spPr>
        <p:txBody>
          <a:bodyPr/>
          <a:lstStyle/>
          <a:p>
            <a:endParaRPr lang="en-US"/>
          </a:p>
        </p:txBody>
      </p:sp>
      <p:sp>
        <p:nvSpPr>
          <p:cNvPr id="16" name="Text 14"/>
          <p:cNvSpPr/>
          <p:nvPr/>
        </p:nvSpPr>
        <p:spPr>
          <a:xfrm>
            <a:off x="822960" y="3639312"/>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1325880" y="3611880"/>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Proje Klasör Yapısı</a:t>
            </a:r>
            <a:endParaRPr lang="en-US" sz="1350" dirty="0"/>
          </a:p>
        </p:txBody>
      </p:sp>
      <p:sp>
        <p:nvSpPr>
          <p:cNvPr id="18" name="Shape 16"/>
          <p:cNvSpPr/>
          <p:nvPr/>
        </p:nvSpPr>
        <p:spPr>
          <a:xfrm>
            <a:off x="822960" y="4206240"/>
            <a:ext cx="365760" cy="365760"/>
          </a:xfrm>
          <a:prstGeom prst="ellipse">
            <a:avLst/>
          </a:prstGeom>
          <a:solidFill>
            <a:srgbClr val="2DD4BF">
              <a:alpha val="80000"/>
            </a:srgbClr>
          </a:solidFill>
          <a:ln/>
        </p:spPr>
        <p:txBody>
          <a:bodyPr/>
          <a:lstStyle/>
          <a:p>
            <a:endParaRPr lang="en-US"/>
          </a:p>
        </p:txBody>
      </p:sp>
      <p:sp>
        <p:nvSpPr>
          <p:cNvPr id="19" name="Text 17"/>
          <p:cNvSpPr/>
          <p:nvPr/>
        </p:nvSpPr>
        <p:spPr>
          <a:xfrm>
            <a:off x="822960" y="4206240"/>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6</a:t>
            </a:r>
            <a:endParaRPr lang="en-US" sz="1300" dirty="0"/>
          </a:p>
        </p:txBody>
      </p:sp>
      <p:sp>
        <p:nvSpPr>
          <p:cNvPr id="20" name="Text 18"/>
          <p:cNvSpPr/>
          <p:nvPr/>
        </p:nvSpPr>
        <p:spPr>
          <a:xfrm>
            <a:off x="1325880" y="4178808"/>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Kurulum — Adım Adım</a:t>
            </a:r>
            <a:endParaRPr lang="en-US" sz="1350" dirty="0"/>
          </a:p>
        </p:txBody>
      </p:sp>
      <p:sp>
        <p:nvSpPr>
          <p:cNvPr id="21" name="Shape 19"/>
          <p:cNvSpPr/>
          <p:nvPr/>
        </p:nvSpPr>
        <p:spPr>
          <a:xfrm>
            <a:off x="822960" y="4773168"/>
            <a:ext cx="365760" cy="365760"/>
          </a:xfrm>
          <a:prstGeom prst="ellipse">
            <a:avLst/>
          </a:prstGeom>
          <a:solidFill>
            <a:srgbClr val="2DD4BF">
              <a:alpha val="80000"/>
            </a:srgbClr>
          </a:solidFill>
          <a:ln/>
        </p:spPr>
        <p:txBody>
          <a:bodyPr/>
          <a:lstStyle/>
          <a:p>
            <a:endParaRPr lang="en-US"/>
          </a:p>
        </p:txBody>
      </p:sp>
      <p:sp>
        <p:nvSpPr>
          <p:cNvPr id="22" name="Text 20"/>
          <p:cNvSpPr/>
          <p:nvPr/>
        </p:nvSpPr>
        <p:spPr>
          <a:xfrm>
            <a:off x="822960" y="4773168"/>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7</a:t>
            </a:r>
            <a:endParaRPr lang="en-US" sz="1300" dirty="0"/>
          </a:p>
        </p:txBody>
      </p:sp>
      <p:sp>
        <p:nvSpPr>
          <p:cNvPr id="23" name="Text 21"/>
          <p:cNvSpPr/>
          <p:nvPr/>
        </p:nvSpPr>
        <p:spPr>
          <a:xfrm>
            <a:off x="1325880" y="4745736"/>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Kod İncelemesi: Doküman İşleme</a:t>
            </a:r>
            <a:endParaRPr lang="en-US" sz="1350" dirty="0"/>
          </a:p>
        </p:txBody>
      </p:sp>
      <p:sp>
        <p:nvSpPr>
          <p:cNvPr id="24" name="Shape 22"/>
          <p:cNvSpPr/>
          <p:nvPr/>
        </p:nvSpPr>
        <p:spPr>
          <a:xfrm>
            <a:off x="822960" y="5340096"/>
            <a:ext cx="365760" cy="365760"/>
          </a:xfrm>
          <a:prstGeom prst="ellipse">
            <a:avLst/>
          </a:prstGeom>
          <a:solidFill>
            <a:srgbClr val="2DD4BF">
              <a:alpha val="80000"/>
            </a:srgbClr>
          </a:solidFill>
          <a:ln/>
        </p:spPr>
        <p:txBody>
          <a:bodyPr/>
          <a:lstStyle/>
          <a:p>
            <a:endParaRPr lang="en-US"/>
          </a:p>
        </p:txBody>
      </p:sp>
      <p:sp>
        <p:nvSpPr>
          <p:cNvPr id="25" name="Text 23"/>
          <p:cNvSpPr/>
          <p:nvPr/>
        </p:nvSpPr>
        <p:spPr>
          <a:xfrm>
            <a:off x="822960" y="5340096"/>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8</a:t>
            </a:r>
            <a:endParaRPr lang="en-US" sz="1300" dirty="0"/>
          </a:p>
        </p:txBody>
      </p:sp>
      <p:sp>
        <p:nvSpPr>
          <p:cNvPr id="26" name="Text 24"/>
          <p:cNvSpPr/>
          <p:nvPr/>
        </p:nvSpPr>
        <p:spPr>
          <a:xfrm>
            <a:off x="1325880" y="5312664"/>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Kod İncelemesi: Vektör Arama</a:t>
            </a:r>
            <a:endParaRPr lang="en-US" sz="1350" dirty="0"/>
          </a:p>
        </p:txBody>
      </p:sp>
      <p:sp>
        <p:nvSpPr>
          <p:cNvPr id="27" name="Shape 25"/>
          <p:cNvSpPr/>
          <p:nvPr/>
        </p:nvSpPr>
        <p:spPr>
          <a:xfrm>
            <a:off x="6309360" y="1371600"/>
            <a:ext cx="365760" cy="365760"/>
          </a:xfrm>
          <a:prstGeom prst="ellipse">
            <a:avLst/>
          </a:prstGeom>
          <a:solidFill>
            <a:srgbClr val="2DD4BF">
              <a:alpha val="80000"/>
            </a:srgbClr>
          </a:solidFill>
          <a:ln/>
        </p:spPr>
        <p:txBody>
          <a:bodyPr/>
          <a:lstStyle/>
          <a:p>
            <a:endParaRPr lang="en-US"/>
          </a:p>
        </p:txBody>
      </p:sp>
      <p:sp>
        <p:nvSpPr>
          <p:cNvPr id="28" name="Text 26"/>
          <p:cNvSpPr/>
          <p:nvPr/>
        </p:nvSpPr>
        <p:spPr>
          <a:xfrm>
            <a:off x="6309360" y="1371600"/>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9</a:t>
            </a:r>
            <a:endParaRPr lang="en-US" sz="1300" dirty="0"/>
          </a:p>
        </p:txBody>
      </p:sp>
      <p:sp>
        <p:nvSpPr>
          <p:cNvPr id="29" name="Text 27"/>
          <p:cNvSpPr/>
          <p:nvPr/>
        </p:nvSpPr>
        <p:spPr>
          <a:xfrm>
            <a:off x="6812280" y="1344168"/>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Kod İncelemesi: Cevap Üretme</a:t>
            </a:r>
            <a:endParaRPr lang="en-US" sz="1350" dirty="0"/>
          </a:p>
        </p:txBody>
      </p:sp>
      <p:sp>
        <p:nvSpPr>
          <p:cNvPr id="30" name="Shape 28"/>
          <p:cNvSpPr/>
          <p:nvPr/>
        </p:nvSpPr>
        <p:spPr>
          <a:xfrm>
            <a:off x="6309360" y="1938528"/>
            <a:ext cx="365760" cy="365760"/>
          </a:xfrm>
          <a:prstGeom prst="ellipse">
            <a:avLst/>
          </a:prstGeom>
          <a:solidFill>
            <a:srgbClr val="2DD4BF">
              <a:alpha val="80000"/>
            </a:srgbClr>
          </a:solidFill>
          <a:ln/>
        </p:spPr>
        <p:txBody>
          <a:bodyPr/>
          <a:lstStyle/>
          <a:p>
            <a:endParaRPr lang="en-US"/>
          </a:p>
        </p:txBody>
      </p:sp>
      <p:sp>
        <p:nvSpPr>
          <p:cNvPr id="31" name="Text 29"/>
          <p:cNvSpPr/>
          <p:nvPr/>
        </p:nvSpPr>
        <p:spPr>
          <a:xfrm>
            <a:off x="6309360" y="1938528"/>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10</a:t>
            </a:r>
            <a:endParaRPr lang="en-US" sz="1300" dirty="0"/>
          </a:p>
        </p:txBody>
      </p:sp>
      <p:sp>
        <p:nvSpPr>
          <p:cNvPr id="32" name="Text 30"/>
          <p:cNvSpPr/>
          <p:nvPr/>
        </p:nvSpPr>
        <p:spPr>
          <a:xfrm>
            <a:off x="6812280" y="1911096"/>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Nasıl Çalıştırılır</a:t>
            </a:r>
            <a:endParaRPr lang="en-US" sz="1350" dirty="0"/>
          </a:p>
        </p:txBody>
      </p:sp>
      <p:sp>
        <p:nvSpPr>
          <p:cNvPr id="33" name="Shape 31"/>
          <p:cNvSpPr/>
          <p:nvPr/>
        </p:nvSpPr>
        <p:spPr>
          <a:xfrm>
            <a:off x="6309360" y="2505456"/>
            <a:ext cx="365760" cy="365760"/>
          </a:xfrm>
          <a:prstGeom prst="ellipse">
            <a:avLst/>
          </a:prstGeom>
          <a:solidFill>
            <a:srgbClr val="2DD4BF">
              <a:alpha val="80000"/>
            </a:srgbClr>
          </a:solidFill>
          <a:ln/>
        </p:spPr>
        <p:txBody>
          <a:bodyPr/>
          <a:lstStyle/>
          <a:p>
            <a:endParaRPr lang="en-US"/>
          </a:p>
        </p:txBody>
      </p:sp>
      <p:sp>
        <p:nvSpPr>
          <p:cNvPr id="34" name="Text 32"/>
          <p:cNvSpPr/>
          <p:nvPr/>
        </p:nvSpPr>
        <p:spPr>
          <a:xfrm>
            <a:off x="6309360" y="2505456"/>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11</a:t>
            </a:r>
            <a:endParaRPr lang="en-US" sz="1300" dirty="0"/>
          </a:p>
        </p:txBody>
      </p:sp>
      <p:sp>
        <p:nvSpPr>
          <p:cNvPr id="35" name="Text 33"/>
          <p:cNvSpPr/>
          <p:nvPr/>
        </p:nvSpPr>
        <p:spPr>
          <a:xfrm>
            <a:off x="6812280" y="2478024"/>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Canlı Örnek — Doğru Cevap</a:t>
            </a:r>
            <a:endParaRPr lang="en-US" sz="1350" dirty="0"/>
          </a:p>
        </p:txBody>
      </p:sp>
      <p:sp>
        <p:nvSpPr>
          <p:cNvPr id="36" name="Shape 34"/>
          <p:cNvSpPr/>
          <p:nvPr/>
        </p:nvSpPr>
        <p:spPr>
          <a:xfrm>
            <a:off x="6309360" y="3072384"/>
            <a:ext cx="365760" cy="365760"/>
          </a:xfrm>
          <a:prstGeom prst="ellipse">
            <a:avLst/>
          </a:prstGeom>
          <a:solidFill>
            <a:srgbClr val="2DD4BF">
              <a:alpha val="80000"/>
            </a:srgbClr>
          </a:solidFill>
          <a:ln/>
        </p:spPr>
        <p:txBody>
          <a:bodyPr/>
          <a:lstStyle/>
          <a:p>
            <a:endParaRPr lang="en-US"/>
          </a:p>
        </p:txBody>
      </p:sp>
      <p:sp>
        <p:nvSpPr>
          <p:cNvPr id="37" name="Text 35"/>
          <p:cNvSpPr/>
          <p:nvPr/>
        </p:nvSpPr>
        <p:spPr>
          <a:xfrm>
            <a:off x="6309360" y="3072384"/>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12</a:t>
            </a:r>
            <a:endParaRPr lang="en-US" sz="1300" dirty="0"/>
          </a:p>
        </p:txBody>
      </p:sp>
      <p:sp>
        <p:nvSpPr>
          <p:cNvPr id="38" name="Text 36"/>
          <p:cNvSpPr/>
          <p:nvPr/>
        </p:nvSpPr>
        <p:spPr>
          <a:xfrm>
            <a:off x="6812280" y="3044952"/>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Canlı Örnek — Halüsinasyon Önleme</a:t>
            </a:r>
            <a:endParaRPr lang="en-US" sz="1350" dirty="0"/>
          </a:p>
        </p:txBody>
      </p:sp>
      <p:sp>
        <p:nvSpPr>
          <p:cNvPr id="39" name="Shape 37"/>
          <p:cNvSpPr/>
          <p:nvPr/>
        </p:nvSpPr>
        <p:spPr>
          <a:xfrm>
            <a:off x="6309360" y="3639312"/>
            <a:ext cx="365760" cy="365760"/>
          </a:xfrm>
          <a:prstGeom prst="ellipse">
            <a:avLst/>
          </a:prstGeom>
          <a:solidFill>
            <a:srgbClr val="2DD4BF">
              <a:alpha val="80000"/>
            </a:srgbClr>
          </a:solidFill>
          <a:ln/>
        </p:spPr>
        <p:txBody>
          <a:bodyPr/>
          <a:lstStyle/>
          <a:p>
            <a:endParaRPr lang="en-US"/>
          </a:p>
        </p:txBody>
      </p:sp>
      <p:sp>
        <p:nvSpPr>
          <p:cNvPr id="40" name="Text 38"/>
          <p:cNvSpPr/>
          <p:nvPr/>
        </p:nvSpPr>
        <p:spPr>
          <a:xfrm>
            <a:off x="6309360" y="3639312"/>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13</a:t>
            </a:r>
            <a:endParaRPr lang="en-US" sz="1300" dirty="0"/>
          </a:p>
        </p:txBody>
      </p:sp>
      <p:sp>
        <p:nvSpPr>
          <p:cNvPr id="41" name="Text 39"/>
          <p:cNvSpPr/>
          <p:nvPr/>
        </p:nvSpPr>
        <p:spPr>
          <a:xfrm>
            <a:off x="6812280" y="3611880"/>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Test Sonuçları</a:t>
            </a:r>
            <a:endParaRPr lang="en-US" sz="1350" dirty="0"/>
          </a:p>
        </p:txBody>
      </p:sp>
      <p:sp>
        <p:nvSpPr>
          <p:cNvPr id="42" name="Shape 40"/>
          <p:cNvSpPr/>
          <p:nvPr/>
        </p:nvSpPr>
        <p:spPr>
          <a:xfrm>
            <a:off x="6309360" y="4206240"/>
            <a:ext cx="365760" cy="365760"/>
          </a:xfrm>
          <a:prstGeom prst="ellipse">
            <a:avLst/>
          </a:prstGeom>
          <a:solidFill>
            <a:srgbClr val="2DD4BF">
              <a:alpha val="80000"/>
            </a:srgbClr>
          </a:solidFill>
          <a:ln/>
        </p:spPr>
        <p:txBody>
          <a:bodyPr/>
          <a:lstStyle/>
          <a:p>
            <a:endParaRPr lang="en-US"/>
          </a:p>
        </p:txBody>
      </p:sp>
      <p:sp>
        <p:nvSpPr>
          <p:cNvPr id="43" name="Text 41"/>
          <p:cNvSpPr/>
          <p:nvPr/>
        </p:nvSpPr>
        <p:spPr>
          <a:xfrm>
            <a:off x="6309360" y="4206240"/>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14</a:t>
            </a:r>
            <a:endParaRPr lang="en-US" sz="1300" dirty="0"/>
          </a:p>
        </p:txBody>
      </p:sp>
      <p:sp>
        <p:nvSpPr>
          <p:cNvPr id="44" name="Text 42"/>
          <p:cNvSpPr/>
          <p:nvPr/>
        </p:nvSpPr>
        <p:spPr>
          <a:xfrm>
            <a:off x="6812280" y="4178808"/>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Öğrendiklerim</a:t>
            </a:r>
            <a:endParaRPr lang="en-US" sz="1350" dirty="0"/>
          </a:p>
        </p:txBody>
      </p:sp>
      <p:sp>
        <p:nvSpPr>
          <p:cNvPr id="45" name="Shape 43"/>
          <p:cNvSpPr/>
          <p:nvPr/>
        </p:nvSpPr>
        <p:spPr>
          <a:xfrm>
            <a:off x="6309360" y="4773168"/>
            <a:ext cx="365760" cy="365760"/>
          </a:xfrm>
          <a:prstGeom prst="ellipse">
            <a:avLst/>
          </a:prstGeom>
          <a:solidFill>
            <a:srgbClr val="2DD4BF">
              <a:alpha val="80000"/>
            </a:srgbClr>
          </a:solidFill>
          <a:ln/>
        </p:spPr>
        <p:txBody>
          <a:bodyPr/>
          <a:lstStyle/>
          <a:p>
            <a:endParaRPr lang="en-US"/>
          </a:p>
        </p:txBody>
      </p:sp>
      <p:sp>
        <p:nvSpPr>
          <p:cNvPr id="46" name="Text 44"/>
          <p:cNvSpPr/>
          <p:nvPr/>
        </p:nvSpPr>
        <p:spPr>
          <a:xfrm>
            <a:off x="6309360" y="4773168"/>
            <a:ext cx="365760" cy="365760"/>
          </a:xfrm>
          <a:prstGeom prst="rect">
            <a:avLst/>
          </a:prstGeom>
          <a:noFill/>
          <a:ln/>
        </p:spPr>
        <p:txBody>
          <a:bodyPr wrap="square" rtlCol="0" anchor="ctr"/>
          <a:lstStyle/>
          <a:p>
            <a:pPr marL="0" indent="0" algn="ctr">
              <a:buNone/>
            </a:pPr>
            <a:r>
              <a:rPr lang="en-US" sz="1300" b="1" dirty="0">
                <a:solidFill>
                  <a:srgbClr val="0B1220"/>
                </a:solidFill>
                <a:latin typeface="Calibri" pitchFamily="34" charset="0"/>
                <a:ea typeface="Calibri" pitchFamily="34" charset="-122"/>
                <a:cs typeface="Calibri" pitchFamily="34" charset="-120"/>
              </a:rPr>
              <a:t>15</a:t>
            </a:r>
            <a:endParaRPr lang="en-US" sz="1300" dirty="0"/>
          </a:p>
        </p:txBody>
      </p:sp>
      <p:sp>
        <p:nvSpPr>
          <p:cNvPr id="47" name="Text 45"/>
          <p:cNvSpPr/>
          <p:nvPr/>
        </p:nvSpPr>
        <p:spPr>
          <a:xfrm>
            <a:off x="6812280" y="4745736"/>
            <a:ext cx="4846320" cy="411480"/>
          </a:xfrm>
          <a:prstGeom prst="rect">
            <a:avLst/>
          </a:prstGeom>
          <a:noFill/>
          <a:ln/>
        </p:spPr>
        <p:txBody>
          <a:bodyPr wrap="square" rtlCol="0" anchor="ctr"/>
          <a:lstStyle/>
          <a:p>
            <a:pPr marL="0" indent="0">
              <a:buNone/>
            </a:pPr>
            <a:r>
              <a:rPr lang="en-US" sz="1350" dirty="0">
                <a:solidFill>
                  <a:srgbClr val="E2E8F0"/>
                </a:solidFill>
                <a:latin typeface="Calibri" pitchFamily="34" charset="0"/>
                <a:ea typeface="Calibri" pitchFamily="34" charset="-122"/>
                <a:cs typeface="Calibri" pitchFamily="34" charset="-120"/>
              </a:rPr>
              <a:t>Geliştirilebilecek Noktalar</a:t>
            </a:r>
            <a:endParaRPr lang="en-US" sz="1350" dirty="0"/>
          </a:p>
        </p:txBody>
      </p:sp>
      <p:sp>
        <p:nvSpPr>
          <p:cNvPr id="48" name="Text 46"/>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49" name="Text 47"/>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Problem: LLM Halüsinasyonu</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Büyük dil modelleri, bilmedikleri konularda bile kendinden emin ama yanlış cevaplar üretebilir.</a:t>
            </a:r>
            <a:endParaRPr lang="en-US" sz="1350" dirty="0"/>
          </a:p>
        </p:txBody>
      </p:sp>
      <p:sp>
        <p:nvSpPr>
          <p:cNvPr id="4" name="Shape 2"/>
          <p:cNvSpPr/>
          <p:nvPr/>
        </p:nvSpPr>
        <p:spPr>
          <a:xfrm>
            <a:off x="822960" y="1691640"/>
            <a:ext cx="6126480" cy="4297680"/>
          </a:xfrm>
          <a:prstGeom prst="roundRect">
            <a:avLst>
              <a:gd name="adj" fmla="val 2553"/>
            </a:avLst>
          </a:prstGeom>
          <a:solidFill>
            <a:srgbClr val="141F35"/>
          </a:solidFill>
          <a:ln/>
        </p:spPr>
        <p:txBody>
          <a:bodyPr/>
          <a:lstStyle/>
          <a:p>
            <a:endParaRPr lang="en-US"/>
          </a:p>
        </p:txBody>
      </p:sp>
      <p:sp>
        <p:nvSpPr>
          <p:cNvPr id="5" name="Text 3"/>
          <p:cNvSpPr/>
          <p:nvPr/>
        </p:nvSpPr>
        <p:spPr>
          <a:xfrm>
            <a:off x="1143000" y="1920240"/>
            <a:ext cx="5486400" cy="457200"/>
          </a:xfrm>
          <a:prstGeom prst="rect">
            <a:avLst/>
          </a:prstGeom>
          <a:noFill/>
          <a:ln/>
        </p:spPr>
        <p:txBody>
          <a:bodyPr wrap="square" rtlCol="0" anchor="ctr"/>
          <a:lstStyle/>
          <a:p>
            <a:pPr marL="0" indent="0">
              <a:buNone/>
            </a:pPr>
            <a:r>
              <a:rPr lang="en-US" sz="1700" b="1" dirty="0">
                <a:solidFill>
                  <a:srgbClr val="F87171"/>
                </a:solidFill>
                <a:latin typeface="Calibri" pitchFamily="34" charset="0"/>
                <a:ea typeface="Calibri" pitchFamily="34" charset="-122"/>
                <a:cs typeface="Calibri" pitchFamily="34" charset="-120"/>
              </a:rPr>
              <a:t>Halüsinasyon Nedir?</a:t>
            </a:r>
            <a:endParaRPr lang="en-US" sz="1700" dirty="0"/>
          </a:p>
        </p:txBody>
      </p:sp>
      <p:sp>
        <p:nvSpPr>
          <p:cNvPr id="6" name="Text 4"/>
          <p:cNvSpPr/>
          <p:nvPr/>
        </p:nvSpPr>
        <p:spPr>
          <a:xfrm>
            <a:off x="1143000" y="2423160"/>
            <a:ext cx="5532120" cy="1371600"/>
          </a:xfrm>
          <a:prstGeom prst="rect">
            <a:avLst/>
          </a:prstGeom>
          <a:noFill/>
          <a:ln/>
        </p:spPr>
        <p:txBody>
          <a:bodyPr wrap="square" rtlCol="0" anchor="ctr"/>
          <a:lstStyle/>
          <a:p>
            <a:pPr marL="0" indent="0">
              <a:lnSpc>
                <a:spcPct val="125000"/>
              </a:lnSpc>
              <a:buNone/>
            </a:pPr>
            <a:r>
              <a:rPr lang="en-US" sz="1250" dirty="0">
                <a:solidFill>
                  <a:srgbClr val="CBD5E1"/>
                </a:solidFill>
                <a:latin typeface="Calibri" pitchFamily="34" charset="0"/>
                <a:ea typeface="Calibri" pitchFamily="34" charset="-122"/>
                <a:cs typeface="Calibri" pitchFamily="34" charset="-120"/>
              </a:rPr>
              <a:t>Model, eğitim verisinde olmayan ya da güncel olmayan bir konuda soru aldığında, bunu itiraf etmek yerine gerçekmiş gibi görünen bir cevap üretebilir. Bu, modelin kendinden emin bir üslupla konuşması yüzünden fark edilmesi zor bir problemdir.</a:t>
            </a:r>
            <a:endParaRPr lang="en-US" sz="1250" dirty="0"/>
          </a:p>
        </p:txBody>
      </p:sp>
      <p:sp>
        <p:nvSpPr>
          <p:cNvPr id="7" name="Shape 5"/>
          <p:cNvSpPr/>
          <p:nvPr/>
        </p:nvSpPr>
        <p:spPr>
          <a:xfrm>
            <a:off x="1143000" y="3886200"/>
            <a:ext cx="5532120" cy="1920240"/>
          </a:xfrm>
          <a:prstGeom prst="roundRect">
            <a:avLst>
              <a:gd name="adj" fmla="val 3810"/>
            </a:avLst>
          </a:prstGeom>
          <a:solidFill>
            <a:srgbClr val="0F172A"/>
          </a:solidFill>
          <a:ln w="12700">
            <a:solidFill>
              <a:srgbClr val="1E293B"/>
            </a:solidFill>
            <a:prstDash val="solid"/>
          </a:ln>
        </p:spPr>
        <p:txBody>
          <a:bodyPr/>
          <a:lstStyle/>
          <a:p>
            <a:endParaRPr lang="en-US"/>
          </a:p>
        </p:txBody>
      </p:sp>
      <p:sp>
        <p:nvSpPr>
          <p:cNvPr id="8" name="Text 6"/>
          <p:cNvSpPr/>
          <p:nvPr/>
        </p:nvSpPr>
        <p:spPr>
          <a:xfrm>
            <a:off x="1371600" y="4050792"/>
            <a:ext cx="5074920" cy="1591056"/>
          </a:xfrm>
          <a:prstGeom prst="rect">
            <a:avLst/>
          </a:prstGeom>
          <a:noFill/>
          <a:ln/>
        </p:spPr>
        <p:txBody>
          <a:bodyPr wrap="square" rtlCol="0" anchor="t"/>
          <a:lstStyle/>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Soru: Python'da for döngüsü nasıl yazılır?</a:t>
            </a:r>
            <a:endParaRPr lang="en-US" sz="1150" dirty="0"/>
          </a:p>
          <a:p>
            <a:pPr marL="0" indent="0">
              <a:lnSpc>
                <a:spcPct val="115000"/>
              </a:lnSpc>
              <a:buNone/>
            </a:pP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Model (kontrolsüz):</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"for i in range(0, num_iterations):</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 işlem" — kendi genel bilgisinden</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uydurulmuş, bağlamla alakasız cevap.</a:t>
            </a:r>
            <a:endParaRPr lang="en-US" sz="1150" dirty="0"/>
          </a:p>
        </p:txBody>
      </p:sp>
      <p:sp>
        <p:nvSpPr>
          <p:cNvPr id="9" name="Shape 7"/>
          <p:cNvSpPr/>
          <p:nvPr/>
        </p:nvSpPr>
        <p:spPr>
          <a:xfrm>
            <a:off x="7178040" y="1691640"/>
            <a:ext cx="4160520" cy="4297680"/>
          </a:xfrm>
          <a:prstGeom prst="roundRect">
            <a:avLst>
              <a:gd name="adj" fmla="val 2637"/>
            </a:avLst>
          </a:prstGeom>
          <a:solidFill>
            <a:srgbClr val="141F35"/>
          </a:solidFill>
          <a:ln/>
        </p:spPr>
        <p:txBody>
          <a:bodyPr/>
          <a:lstStyle/>
          <a:p>
            <a:endParaRPr lang="en-US"/>
          </a:p>
        </p:txBody>
      </p:sp>
      <p:sp>
        <p:nvSpPr>
          <p:cNvPr id="10" name="Text 8"/>
          <p:cNvSpPr/>
          <p:nvPr/>
        </p:nvSpPr>
        <p:spPr>
          <a:xfrm>
            <a:off x="7498080" y="1920240"/>
            <a:ext cx="3566160" cy="457200"/>
          </a:xfrm>
          <a:prstGeom prst="rect">
            <a:avLst/>
          </a:prstGeom>
          <a:noFill/>
          <a:ln/>
        </p:spPr>
        <p:txBody>
          <a:bodyPr wrap="square" rtlCol="0" anchor="ctr"/>
          <a:lstStyle/>
          <a:p>
            <a:pPr marL="0" indent="0">
              <a:buNone/>
            </a:pPr>
            <a:r>
              <a:rPr lang="en-US" sz="1700" b="1" dirty="0">
                <a:solidFill>
                  <a:srgbClr val="F59E0B"/>
                </a:solidFill>
                <a:latin typeface="Calibri" pitchFamily="34" charset="0"/>
                <a:ea typeface="Calibri" pitchFamily="34" charset="-122"/>
                <a:cs typeface="Calibri" pitchFamily="34" charset="-120"/>
              </a:rPr>
              <a:t>Neden Önemli?</a:t>
            </a:r>
            <a:endParaRPr lang="en-US" sz="1700" dirty="0"/>
          </a:p>
        </p:txBody>
      </p:sp>
      <p:sp>
        <p:nvSpPr>
          <p:cNvPr id="11" name="Text 9"/>
          <p:cNvSpPr/>
          <p:nvPr/>
        </p:nvSpPr>
        <p:spPr>
          <a:xfrm>
            <a:off x="7498080" y="2468880"/>
            <a:ext cx="3566160" cy="3291840"/>
          </a:xfrm>
          <a:prstGeom prst="rect">
            <a:avLst/>
          </a:prstGeom>
          <a:noFill/>
          <a:ln/>
        </p:spPr>
        <p:txBody>
          <a:bodyPr wrap="square" rtlCol="0" anchor="t"/>
          <a:lstStyle/>
          <a:p>
            <a:pPr marL="342900" indent="-342900">
              <a:spcAft>
                <a:spcPts val="1600"/>
              </a:spcAft>
              <a:buSzPct val="100000"/>
              <a:buChar char="●"/>
            </a:pPr>
            <a:r>
              <a:rPr lang="en-US" sz="1300" dirty="0">
                <a:solidFill>
                  <a:srgbClr val="E2E8F0"/>
                </a:solidFill>
                <a:latin typeface="Calibri" pitchFamily="34" charset="0"/>
                <a:ea typeface="Calibri" pitchFamily="34" charset="-122"/>
                <a:cs typeface="Calibri" pitchFamily="34" charset="-120"/>
              </a:rPr>
              <a:t>Yanlış bilgi güvenle sunulur, fark edilmesi zor</a:t>
            </a:r>
            <a:endParaRPr lang="en-US" sz="1300" dirty="0"/>
          </a:p>
          <a:p>
            <a:pPr marL="342900" indent="-342900">
              <a:spcAft>
                <a:spcPts val="1600"/>
              </a:spcAft>
              <a:buSzPct val="100000"/>
              <a:buChar char="●"/>
            </a:pPr>
            <a:r>
              <a:rPr lang="en-US" sz="1300" dirty="0">
                <a:solidFill>
                  <a:srgbClr val="E2E8F0"/>
                </a:solidFill>
                <a:latin typeface="Calibri" pitchFamily="34" charset="0"/>
                <a:ea typeface="Calibri" pitchFamily="34" charset="-122"/>
                <a:cs typeface="Calibri" pitchFamily="34" charset="-120"/>
              </a:rPr>
              <a:t>Gerçek ürünlerde güven kaybına yol açar</a:t>
            </a:r>
            <a:endParaRPr lang="en-US" sz="1300" dirty="0"/>
          </a:p>
          <a:p>
            <a:pPr marL="342900" indent="-342900">
              <a:spcAft>
                <a:spcPts val="1600"/>
              </a:spcAft>
              <a:buSzPct val="100000"/>
              <a:buChar char="●"/>
            </a:pPr>
            <a:r>
              <a:rPr lang="en-US" sz="1300" dirty="0">
                <a:solidFill>
                  <a:srgbClr val="E2E8F0"/>
                </a:solidFill>
                <a:latin typeface="Calibri" pitchFamily="34" charset="0"/>
                <a:ea typeface="Calibri" pitchFamily="34" charset="-122"/>
                <a:cs typeface="Calibri" pitchFamily="34" charset="-120"/>
              </a:rPr>
              <a:t>Kaynağı belirsiz cevaplar doğrulanamaz</a:t>
            </a:r>
            <a:endParaRPr lang="en-US" sz="1300" dirty="0"/>
          </a:p>
          <a:p>
            <a:pPr marL="342900" indent="-342900">
              <a:spcAft>
                <a:spcPts val="1600"/>
              </a:spcAft>
              <a:buSzPct val="100000"/>
              <a:buChar char="●"/>
            </a:pPr>
            <a:r>
              <a:rPr lang="en-US" sz="1300" dirty="0">
                <a:solidFill>
                  <a:srgbClr val="E2E8F0"/>
                </a:solidFill>
                <a:latin typeface="Calibri" pitchFamily="34" charset="0"/>
                <a:ea typeface="Calibri" pitchFamily="34" charset="-122"/>
                <a:cs typeface="Calibri" pitchFamily="34" charset="-120"/>
              </a:rPr>
              <a:t>Kurumsal/hukuki sorumluluk riski doğurur</a:t>
            </a:r>
            <a:endParaRPr lang="en-US" sz="1300" dirty="0"/>
          </a:p>
        </p:txBody>
      </p:sp>
      <p:sp>
        <p:nvSpPr>
          <p:cNvPr id="12" name="Text 10"/>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13" name="Text 11"/>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Çözüm: RAG (Retrieval-Augmented Generation)</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Modeli cevap üretmeden önce ilgili bilgiyle besleme yöntemi</a:t>
            </a:r>
            <a:endParaRPr lang="en-US" sz="1350" dirty="0"/>
          </a:p>
        </p:txBody>
      </p:sp>
      <p:sp>
        <p:nvSpPr>
          <p:cNvPr id="4" name="Shape 2"/>
          <p:cNvSpPr/>
          <p:nvPr/>
        </p:nvSpPr>
        <p:spPr>
          <a:xfrm>
            <a:off x="822960" y="1737360"/>
            <a:ext cx="3246120" cy="3108960"/>
          </a:xfrm>
          <a:prstGeom prst="roundRect">
            <a:avLst>
              <a:gd name="adj" fmla="val 3529"/>
            </a:avLst>
          </a:prstGeom>
          <a:solidFill>
            <a:srgbClr val="141F35"/>
          </a:solidFill>
          <a:ln/>
        </p:spPr>
        <p:txBody>
          <a:bodyPr/>
          <a:lstStyle/>
          <a:p>
            <a:endParaRPr lang="en-US"/>
          </a:p>
        </p:txBody>
      </p:sp>
      <p:sp>
        <p:nvSpPr>
          <p:cNvPr id="5" name="Shape 3"/>
          <p:cNvSpPr/>
          <p:nvPr/>
        </p:nvSpPr>
        <p:spPr>
          <a:xfrm>
            <a:off x="2125980" y="2057400"/>
            <a:ext cx="640080" cy="640080"/>
          </a:xfrm>
          <a:prstGeom prst="ellipse">
            <a:avLst/>
          </a:prstGeom>
          <a:solidFill>
            <a:srgbClr val="2DD4BF">
              <a:alpha val="85000"/>
            </a:srgbClr>
          </a:solidFill>
          <a:ln/>
        </p:spPr>
        <p:txBody>
          <a:bodyPr/>
          <a:lstStyle/>
          <a:p>
            <a:endParaRPr lang="en-US"/>
          </a:p>
        </p:txBody>
      </p:sp>
      <p:sp>
        <p:nvSpPr>
          <p:cNvPr id="6" name="Text 4"/>
          <p:cNvSpPr/>
          <p:nvPr/>
        </p:nvSpPr>
        <p:spPr>
          <a:xfrm>
            <a:off x="2125980" y="2057400"/>
            <a:ext cx="640080" cy="640080"/>
          </a:xfrm>
          <a:prstGeom prst="rect">
            <a:avLst/>
          </a:prstGeom>
          <a:noFill/>
          <a:ln/>
        </p:spPr>
        <p:txBody>
          <a:bodyPr wrap="square" rtlCol="0" anchor="ctr"/>
          <a:lstStyle/>
          <a:p>
            <a:pPr marL="0" indent="0" algn="ctr">
              <a:buNone/>
            </a:pPr>
            <a:r>
              <a:rPr lang="en-US" sz="2200" b="1" dirty="0">
                <a:solidFill>
                  <a:srgbClr val="0B1220"/>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22960" y="2880360"/>
            <a:ext cx="3246120" cy="365760"/>
          </a:xfrm>
          <a:prstGeom prst="rect">
            <a:avLst/>
          </a:prstGeom>
          <a:noFill/>
          <a:ln/>
        </p:spPr>
        <p:txBody>
          <a:bodyPr wrap="square" rtlCol="0" anchor="ctr"/>
          <a:lstStyle/>
          <a:p>
            <a:pPr marL="0" indent="0" algn="ctr">
              <a:buNone/>
            </a:pPr>
            <a:r>
              <a:rPr lang="en-US" sz="1600" b="1" dirty="0">
                <a:solidFill>
                  <a:srgbClr val="2DD4BF"/>
                </a:solidFill>
                <a:latin typeface="Calibri" pitchFamily="34" charset="0"/>
                <a:ea typeface="Calibri" pitchFamily="34" charset="-122"/>
                <a:cs typeface="Calibri" pitchFamily="34" charset="-120"/>
              </a:rPr>
              <a:t>RETRIEVE</a:t>
            </a:r>
            <a:endParaRPr lang="en-US" sz="1600" dirty="0"/>
          </a:p>
        </p:txBody>
      </p:sp>
      <p:sp>
        <p:nvSpPr>
          <p:cNvPr id="8" name="Text 6"/>
          <p:cNvSpPr/>
          <p:nvPr/>
        </p:nvSpPr>
        <p:spPr>
          <a:xfrm>
            <a:off x="822960" y="3227832"/>
            <a:ext cx="3246120" cy="27432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Getir</a:t>
            </a:r>
            <a:endParaRPr lang="en-US" sz="1100" dirty="0"/>
          </a:p>
        </p:txBody>
      </p:sp>
      <p:sp>
        <p:nvSpPr>
          <p:cNvPr id="9" name="Text 7"/>
          <p:cNvSpPr/>
          <p:nvPr/>
        </p:nvSpPr>
        <p:spPr>
          <a:xfrm>
            <a:off x="1097280" y="3657600"/>
            <a:ext cx="2697480" cy="1005840"/>
          </a:xfrm>
          <a:prstGeom prst="rect">
            <a:avLst/>
          </a:prstGeom>
          <a:noFill/>
          <a:ln/>
        </p:spPr>
        <p:txBody>
          <a:bodyPr wrap="square" rtlCol="0" anchor="t"/>
          <a:lstStyle/>
          <a:p>
            <a:pPr marL="0" indent="0" algn="ctr">
              <a:buNone/>
            </a:pPr>
            <a:r>
              <a:rPr lang="en-US" sz="1250" dirty="0">
                <a:solidFill>
                  <a:srgbClr val="E2E8F0"/>
                </a:solidFill>
                <a:latin typeface="Calibri" pitchFamily="34" charset="0"/>
                <a:ea typeface="Calibri" pitchFamily="34" charset="-122"/>
                <a:cs typeface="Calibri" pitchFamily="34" charset="-120"/>
              </a:rPr>
              <a:t>Soruya en yakın doküman parçalarını bul</a:t>
            </a:r>
            <a:endParaRPr lang="en-US" sz="1250" dirty="0"/>
          </a:p>
        </p:txBody>
      </p:sp>
      <p:sp>
        <p:nvSpPr>
          <p:cNvPr id="10" name="Text 8"/>
          <p:cNvSpPr/>
          <p:nvPr/>
        </p:nvSpPr>
        <p:spPr>
          <a:xfrm>
            <a:off x="4087368" y="3017520"/>
            <a:ext cx="374904" cy="548640"/>
          </a:xfrm>
          <a:prstGeom prst="rect">
            <a:avLst/>
          </a:prstGeom>
          <a:noFill/>
          <a:ln/>
        </p:spPr>
        <p:txBody>
          <a:bodyPr wrap="square"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480560" y="1737360"/>
            <a:ext cx="3246120" cy="3108960"/>
          </a:xfrm>
          <a:prstGeom prst="roundRect">
            <a:avLst>
              <a:gd name="adj" fmla="val 3529"/>
            </a:avLst>
          </a:prstGeom>
          <a:solidFill>
            <a:srgbClr val="141F35"/>
          </a:solidFill>
          <a:ln/>
        </p:spPr>
        <p:txBody>
          <a:bodyPr/>
          <a:lstStyle/>
          <a:p>
            <a:endParaRPr lang="en-US"/>
          </a:p>
        </p:txBody>
      </p:sp>
      <p:sp>
        <p:nvSpPr>
          <p:cNvPr id="12" name="Shape 10"/>
          <p:cNvSpPr/>
          <p:nvPr/>
        </p:nvSpPr>
        <p:spPr>
          <a:xfrm>
            <a:off x="5783580" y="2057400"/>
            <a:ext cx="640080" cy="640080"/>
          </a:xfrm>
          <a:prstGeom prst="ellipse">
            <a:avLst/>
          </a:prstGeom>
          <a:solidFill>
            <a:srgbClr val="F59E0B">
              <a:alpha val="85000"/>
            </a:srgbClr>
          </a:solidFill>
          <a:ln/>
        </p:spPr>
        <p:txBody>
          <a:bodyPr/>
          <a:lstStyle/>
          <a:p>
            <a:endParaRPr lang="en-US"/>
          </a:p>
        </p:txBody>
      </p:sp>
      <p:sp>
        <p:nvSpPr>
          <p:cNvPr id="13" name="Text 11"/>
          <p:cNvSpPr/>
          <p:nvPr/>
        </p:nvSpPr>
        <p:spPr>
          <a:xfrm>
            <a:off x="5783580" y="2057400"/>
            <a:ext cx="640080" cy="640080"/>
          </a:xfrm>
          <a:prstGeom prst="rect">
            <a:avLst/>
          </a:prstGeom>
          <a:noFill/>
          <a:ln/>
        </p:spPr>
        <p:txBody>
          <a:bodyPr wrap="square" rtlCol="0" anchor="ctr"/>
          <a:lstStyle/>
          <a:p>
            <a:pPr marL="0" indent="0" algn="ctr">
              <a:buNone/>
            </a:pPr>
            <a:r>
              <a:rPr lang="en-US" sz="2200" b="1" dirty="0">
                <a:solidFill>
                  <a:srgbClr val="0B1220"/>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4480560" y="2880360"/>
            <a:ext cx="3246120" cy="365760"/>
          </a:xfrm>
          <a:prstGeom prst="rect">
            <a:avLst/>
          </a:prstGeom>
          <a:noFill/>
          <a:ln/>
        </p:spPr>
        <p:txBody>
          <a:bodyPr wrap="square" rtlCol="0" anchor="ctr"/>
          <a:lstStyle/>
          <a:p>
            <a:pPr marL="0" indent="0" algn="ctr">
              <a:buNone/>
            </a:pPr>
            <a:r>
              <a:rPr lang="en-US" sz="1600" b="1" dirty="0">
                <a:solidFill>
                  <a:srgbClr val="F59E0B"/>
                </a:solidFill>
                <a:latin typeface="Calibri" pitchFamily="34" charset="0"/>
                <a:ea typeface="Calibri" pitchFamily="34" charset="-122"/>
                <a:cs typeface="Calibri" pitchFamily="34" charset="-120"/>
              </a:rPr>
              <a:t>AUGMENT</a:t>
            </a:r>
            <a:endParaRPr lang="en-US" sz="1600" dirty="0"/>
          </a:p>
        </p:txBody>
      </p:sp>
      <p:sp>
        <p:nvSpPr>
          <p:cNvPr id="15" name="Text 13"/>
          <p:cNvSpPr/>
          <p:nvPr/>
        </p:nvSpPr>
        <p:spPr>
          <a:xfrm>
            <a:off x="4480560" y="3227832"/>
            <a:ext cx="3246120" cy="27432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Zenginleştir</a:t>
            </a:r>
            <a:endParaRPr lang="en-US" sz="1100" dirty="0"/>
          </a:p>
        </p:txBody>
      </p:sp>
      <p:sp>
        <p:nvSpPr>
          <p:cNvPr id="16" name="Text 14"/>
          <p:cNvSpPr/>
          <p:nvPr/>
        </p:nvSpPr>
        <p:spPr>
          <a:xfrm>
            <a:off x="4754880" y="3657600"/>
            <a:ext cx="2697480" cy="1005840"/>
          </a:xfrm>
          <a:prstGeom prst="rect">
            <a:avLst/>
          </a:prstGeom>
          <a:noFill/>
          <a:ln/>
        </p:spPr>
        <p:txBody>
          <a:bodyPr wrap="square" rtlCol="0" anchor="t"/>
          <a:lstStyle/>
          <a:p>
            <a:pPr marL="0" indent="0" algn="ctr">
              <a:buNone/>
            </a:pPr>
            <a:r>
              <a:rPr lang="en-US" sz="1250" dirty="0">
                <a:solidFill>
                  <a:srgbClr val="E2E8F0"/>
                </a:solidFill>
                <a:latin typeface="Calibri" pitchFamily="34" charset="0"/>
                <a:ea typeface="Calibri" pitchFamily="34" charset="-122"/>
                <a:cs typeface="Calibri" pitchFamily="34" charset="-120"/>
              </a:rPr>
              <a:t>Bulunan bilgiyi soruya bağlam olarak ekle</a:t>
            </a:r>
            <a:endParaRPr lang="en-US" sz="1250" dirty="0"/>
          </a:p>
        </p:txBody>
      </p:sp>
      <p:sp>
        <p:nvSpPr>
          <p:cNvPr id="17" name="Text 15"/>
          <p:cNvSpPr/>
          <p:nvPr/>
        </p:nvSpPr>
        <p:spPr>
          <a:xfrm>
            <a:off x="7744968" y="3017520"/>
            <a:ext cx="374904" cy="548640"/>
          </a:xfrm>
          <a:prstGeom prst="rect">
            <a:avLst/>
          </a:prstGeom>
          <a:noFill/>
          <a:ln/>
        </p:spPr>
        <p:txBody>
          <a:bodyPr wrap="square" rtlCol="0" anchor="ctr"/>
          <a:lstStyle/>
          <a:p>
            <a:pPr marL="0" indent="0" algn="ctr">
              <a:buNone/>
            </a:pPr>
            <a:r>
              <a:rPr lang="en-US" sz="2000" dirty="0">
                <a:solidFill>
                  <a:srgbClr val="94A3B8"/>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8138160" y="1737360"/>
            <a:ext cx="3246120" cy="3108960"/>
          </a:xfrm>
          <a:prstGeom prst="roundRect">
            <a:avLst>
              <a:gd name="adj" fmla="val 3529"/>
            </a:avLst>
          </a:prstGeom>
          <a:solidFill>
            <a:srgbClr val="141F35"/>
          </a:solidFill>
          <a:ln/>
        </p:spPr>
        <p:txBody>
          <a:bodyPr/>
          <a:lstStyle/>
          <a:p>
            <a:endParaRPr lang="en-US"/>
          </a:p>
        </p:txBody>
      </p:sp>
      <p:sp>
        <p:nvSpPr>
          <p:cNvPr id="19" name="Shape 17"/>
          <p:cNvSpPr/>
          <p:nvPr/>
        </p:nvSpPr>
        <p:spPr>
          <a:xfrm>
            <a:off x="9441180" y="2057400"/>
            <a:ext cx="640080" cy="640080"/>
          </a:xfrm>
          <a:prstGeom prst="ellipse">
            <a:avLst/>
          </a:prstGeom>
          <a:solidFill>
            <a:srgbClr val="4ADE80">
              <a:alpha val="85000"/>
            </a:srgbClr>
          </a:solidFill>
          <a:ln/>
        </p:spPr>
        <p:txBody>
          <a:bodyPr/>
          <a:lstStyle/>
          <a:p>
            <a:endParaRPr lang="en-US"/>
          </a:p>
        </p:txBody>
      </p:sp>
      <p:sp>
        <p:nvSpPr>
          <p:cNvPr id="20" name="Text 18"/>
          <p:cNvSpPr/>
          <p:nvPr/>
        </p:nvSpPr>
        <p:spPr>
          <a:xfrm>
            <a:off x="9441180" y="2057400"/>
            <a:ext cx="640080" cy="640080"/>
          </a:xfrm>
          <a:prstGeom prst="rect">
            <a:avLst/>
          </a:prstGeom>
          <a:noFill/>
          <a:ln/>
        </p:spPr>
        <p:txBody>
          <a:bodyPr wrap="square" rtlCol="0" anchor="ctr"/>
          <a:lstStyle/>
          <a:p>
            <a:pPr marL="0" indent="0" algn="ctr">
              <a:buNone/>
            </a:pPr>
            <a:r>
              <a:rPr lang="en-US" sz="2200" b="1" dirty="0">
                <a:solidFill>
                  <a:srgbClr val="0B1220"/>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8138160" y="2880360"/>
            <a:ext cx="3246120" cy="365760"/>
          </a:xfrm>
          <a:prstGeom prst="rect">
            <a:avLst/>
          </a:prstGeom>
          <a:noFill/>
          <a:ln/>
        </p:spPr>
        <p:txBody>
          <a:bodyPr wrap="square" rtlCol="0" anchor="ctr"/>
          <a:lstStyle/>
          <a:p>
            <a:pPr marL="0" indent="0" algn="ctr">
              <a:buNone/>
            </a:pPr>
            <a:r>
              <a:rPr lang="en-US" sz="1600" b="1" dirty="0">
                <a:solidFill>
                  <a:srgbClr val="4ADE80"/>
                </a:solidFill>
                <a:latin typeface="Calibri" pitchFamily="34" charset="0"/>
                <a:ea typeface="Calibri" pitchFamily="34" charset="-122"/>
                <a:cs typeface="Calibri" pitchFamily="34" charset="-120"/>
              </a:rPr>
              <a:t>GENERATE</a:t>
            </a:r>
            <a:endParaRPr lang="en-US" sz="1600" dirty="0"/>
          </a:p>
        </p:txBody>
      </p:sp>
      <p:sp>
        <p:nvSpPr>
          <p:cNvPr id="22" name="Text 20"/>
          <p:cNvSpPr/>
          <p:nvPr/>
        </p:nvSpPr>
        <p:spPr>
          <a:xfrm>
            <a:off x="8138160" y="3227832"/>
            <a:ext cx="3246120" cy="27432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Üret</a:t>
            </a:r>
            <a:endParaRPr lang="en-US" sz="1100" dirty="0"/>
          </a:p>
        </p:txBody>
      </p:sp>
      <p:sp>
        <p:nvSpPr>
          <p:cNvPr id="23" name="Text 21"/>
          <p:cNvSpPr/>
          <p:nvPr/>
        </p:nvSpPr>
        <p:spPr>
          <a:xfrm>
            <a:off x="8412480" y="3657600"/>
            <a:ext cx="2697480" cy="1005840"/>
          </a:xfrm>
          <a:prstGeom prst="rect">
            <a:avLst/>
          </a:prstGeom>
          <a:noFill/>
          <a:ln/>
        </p:spPr>
        <p:txBody>
          <a:bodyPr wrap="square" rtlCol="0" anchor="t"/>
          <a:lstStyle/>
          <a:p>
            <a:pPr marL="0" indent="0" algn="ctr">
              <a:buNone/>
            </a:pPr>
            <a:r>
              <a:rPr lang="en-US" sz="1250" dirty="0">
                <a:solidFill>
                  <a:srgbClr val="E2E8F0"/>
                </a:solidFill>
                <a:latin typeface="Calibri" pitchFamily="34" charset="0"/>
                <a:ea typeface="Calibri" pitchFamily="34" charset="-122"/>
                <a:cs typeface="Calibri" pitchFamily="34" charset="-120"/>
              </a:rPr>
              <a:t>Model, sadece bu bağlamı kullanarak cevap yazar</a:t>
            </a:r>
            <a:endParaRPr lang="en-US" sz="1250" dirty="0"/>
          </a:p>
        </p:txBody>
      </p:sp>
      <p:sp>
        <p:nvSpPr>
          <p:cNvPr id="24" name="Shape 22"/>
          <p:cNvSpPr/>
          <p:nvPr/>
        </p:nvSpPr>
        <p:spPr>
          <a:xfrm>
            <a:off x="822960" y="5074920"/>
            <a:ext cx="10561320" cy="1051560"/>
          </a:xfrm>
          <a:prstGeom prst="roundRect">
            <a:avLst>
              <a:gd name="adj" fmla="val 8696"/>
            </a:avLst>
          </a:prstGeom>
          <a:solidFill>
            <a:srgbClr val="111827"/>
          </a:solidFill>
          <a:ln w="12700">
            <a:solidFill>
              <a:srgbClr val="2DD4BF"/>
            </a:solidFill>
            <a:prstDash val="solid"/>
          </a:ln>
        </p:spPr>
        <p:txBody>
          <a:bodyPr/>
          <a:lstStyle/>
          <a:p>
            <a:endParaRPr lang="en-US"/>
          </a:p>
        </p:txBody>
      </p:sp>
      <p:sp>
        <p:nvSpPr>
          <p:cNvPr id="25" name="Text 23"/>
          <p:cNvSpPr/>
          <p:nvPr/>
        </p:nvSpPr>
        <p:spPr>
          <a:xfrm>
            <a:off x="1097280" y="5074920"/>
            <a:ext cx="10058400" cy="1051560"/>
          </a:xfrm>
          <a:prstGeom prst="rect">
            <a:avLst/>
          </a:prstGeom>
          <a:noFill/>
          <a:ln/>
        </p:spPr>
        <p:txBody>
          <a:bodyPr wrap="square"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Neden RAG? Modeli yeniden eğitmeden (fine-tuning yapmadan), sadece veri kaynağını güncelleyerek modelin bilgisini güncel tutabiliyoruz — daha esnek ve ucuz.</a:t>
            </a:r>
            <a:endParaRPr lang="en-US" sz="1300" dirty="0"/>
          </a:p>
        </p:txBody>
      </p:sp>
      <p:sp>
        <p:nvSpPr>
          <p:cNvPr id="26" name="Text 24"/>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27" name="Text 25"/>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Sistem Mimarisi ve Veri Akışı</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Tamamen yerel — internet bağlantısı gerektirmez</a:t>
            </a:r>
            <a:endParaRPr lang="en-US" sz="1350" dirty="0"/>
          </a:p>
        </p:txBody>
      </p:sp>
      <p:sp>
        <p:nvSpPr>
          <p:cNvPr id="4" name="Shape 2"/>
          <p:cNvSpPr/>
          <p:nvPr/>
        </p:nvSpPr>
        <p:spPr>
          <a:xfrm>
            <a:off x="822960" y="1600200"/>
            <a:ext cx="2377440" cy="1234440"/>
          </a:xfrm>
          <a:prstGeom prst="roundRect">
            <a:avLst>
              <a:gd name="adj" fmla="val 7407"/>
            </a:avLst>
          </a:prstGeom>
          <a:solidFill>
            <a:srgbClr val="334155"/>
          </a:solidFill>
          <a:ln/>
        </p:spPr>
        <p:txBody>
          <a:bodyPr/>
          <a:lstStyle/>
          <a:p>
            <a:endParaRPr lang="en-US"/>
          </a:p>
        </p:txBody>
      </p:sp>
      <p:sp>
        <p:nvSpPr>
          <p:cNvPr id="5" name="Text 3"/>
          <p:cNvSpPr/>
          <p:nvPr/>
        </p:nvSpPr>
        <p:spPr>
          <a:xfrm>
            <a:off x="914400" y="1600200"/>
            <a:ext cx="219456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Kullanıcı</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Sorusu</a:t>
            </a:r>
            <a:endParaRPr lang="en-US" sz="1150" dirty="0"/>
          </a:p>
        </p:txBody>
      </p:sp>
      <p:sp>
        <p:nvSpPr>
          <p:cNvPr id="6" name="Text 4"/>
          <p:cNvSpPr/>
          <p:nvPr/>
        </p:nvSpPr>
        <p:spPr>
          <a:xfrm>
            <a:off x="3200400" y="1600200"/>
            <a:ext cx="411480" cy="123444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3611880" y="1600200"/>
            <a:ext cx="2468880" cy="1234440"/>
          </a:xfrm>
          <a:prstGeom prst="roundRect">
            <a:avLst>
              <a:gd name="adj" fmla="val 7407"/>
            </a:avLst>
          </a:prstGeom>
          <a:solidFill>
            <a:srgbClr val="0F766E"/>
          </a:solidFill>
          <a:ln/>
        </p:spPr>
        <p:txBody>
          <a:bodyPr/>
          <a:lstStyle/>
          <a:p>
            <a:endParaRPr lang="en-US"/>
          </a:p>
        </p:txBody>
      </p:sp>
      <p:sp>
        <p:nvSpPr>
          <p:cNvPr id="8" name="Text 6"/>
          <p:cNvSpPr/>
          <p:nvPr/>
        </p:nvSpPr>
        <p:spPr>
          <a:xfrm>
            <a:off x="3703320" y="1600200"/>
            <a:ext cx="228600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Embedding</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Modeli</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(qwen3-embedding)</a:t>
            </a:r>
            <a:endParaRPr lang="en-US" sz="1150" dirty="0"/>
          </a:p>
        </p:txBody>
      </p:sp>
      <p:sp>
        <p:nvSpPr>
          <p:cNvPr id="9" name="Text 7"/>
          <p:cNvSpPr/>
          <p:nvPr/>
        </p:nvSpPr>
        <p:spPr>
          <a:xfrm>
            <a:off x="6080760" y="1600200"/>
            <a:ext cx="411480" cy="123444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6492240" y="1600200"/>
            <a:ext cx="2468880" cy="1234440"/>
          </a:xfrm>
          <a:prstGeom prst="roundRect">
            <a:avLst>
              <a:gd name="adj" fmla="val 7407"/>
            </a:avLst>
          </a:prstGeom>
          <a:solidFill>
            <a:srgbClr val="1D4ED8"/>
          </a:solidFill>
          <a:ln/>
        </p:spPr>
        <p:txBody>
          <a:bodyPr/>
          <a:lstStyle/>
          <a:p>
            <a:endParaRPr lang="en-US"/>
          </a:p>
        </p:txBody>
      </p:sp>
      <p:sp>
        <p:nvSpPr>
          <p:cNvPr id="11" name="Text 9"/>
          <p:cNvSpPr/>
          <p:nvPr/>
        </p:nvSpPr>
        <p:spPr>
          <a:xfrm>
            <a:off x="6583680" y="1600200"/>
            <a:ext cx="228600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SQLite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Vektör Arama</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(kosinüs benzerliği)</a:t>
            </a:r>
            <a:endParaRPr lang="en-US" sz="1150" dirty="0"/>
          </a:p>
        </p:txBody>
      </p:sp>
      <p:sp>
        <p:nvSpPr>
          <p:cNvPr id="12" name="Text 10"/>
          <p:cNvSpPr/>
          <p:nvPr/>
        </p:nvSpPr>
        <p:spPr>
          <a:xfrm>
            <a:off x="8961120" y="1600200"/>
            <a:ext cx="365760" cy="123444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9326880" y="1600200"/>
            <a:ext cx="2057400" cy="1234440"/>
          </a:xfrm>
          <a:prstGeom prst="roundRect">
            <a:avLst>
              <a:gd name="adj" fmla="val 7407"/>
            </a:avLst>
          </a:prstGeom>
          <a:solidFill>
            <a:srgbClr val="334155"/>
          </a:solidFill>
          <a:ln/>
        </p:spPr>
        <p:txBody>
          <a:bodyPr/>
          <a:lstStyle/>
          <a:p>
            <a:endParaRPr lang="en-US"/>
          </a:p>
        </p:txBody>
      </p:sp>
      <p:sp>
        <p:nvSpPr>
          <p:cNvPr id="14" name="Text 12"/>
          <p:cNvSpPr/>
          <p:nvPr/>
        </p:nvSpPr>
        <p:spPr>
          <a:xfrm>
            <a:off x="9418320" y="1600200"/>
            <a:ext cx="187452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 Alakalı</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3 Parça</a:t>
            </a:r>
            <a:endParaRPr lang="en-US" sz="1150" dirty="0"/>
          </a:p>
        </p:txBody>
      </p:sp>
      <p:sp>
        <p:nvSpPr>
          <p:cNvPr id="15" name="Shape 13"/>
          <p:cNvSpPr/>
          <p:nvPr/>
        </p:nvSpPr>
        <p:spPr>
          <a:xfrm>
            <a:off x="9326880" y="3291840"/>
            <a:ext cx="2057400" cy="1234440"/>
          </a:xfrm>
          <a:prstGeom prst="roundRect">
            <a:avLst>
              <a:gd name="adj" fmla="val 7407"/>
            </a:avLst>
          </a:prstGeom>
          <a:solidFill>
            <a:srgbClr val="334155"/>
          </a:solidFill>
          <a:ln/>
        </p:spPr>
        <p:txBody>
          <a:bodyPr/>
          <a:lstStyle/>
          <a:p>
            <a:endParaRPr lang="en-US"/>
          </a:p>
        </p:txBody>
      </p:sp>
      <p:sp>
        <p:nvSpPr>
          <p:cNvPr id="16" name="Text 14"/>
          <p:cNvSpPr/>
          <p:nvPr/>
        </p:nvSpPr>
        <p:spPr>
          <a:xfrm>
            <a:off x="9418320" y="3291840"/>
            <a:ext cx="187452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Bağlam +</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Soru</a:t>
            </a:r>
            <a:endParaRPr lang="en-US" sz="1150" dirty="0"/>
          </a:p>
        </p:txBody>
      </p:sp>
      <p:sp>
        <p:nvSpPr>
          <p:cNvPr id="17" name="Text 15"/>
          <p:cNvSpPr/>
          <p:nvPr/>
        </p:nvSpPr>
        <p:spPr>
          <a:xfrm>
            <a:off x="8961120" y="3291840"/>
            <a:ext cx="365760" cy="123444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6492240" y="3291840"/>
            <a:ext cx="2468880" cy="1234440"/>
          </a:xfrm>
          <a:prstGeom prst="roundRect">
            <a:avLst>
              <a:gd name="adj" fmla="val 7407"/>
            </a:avLst>
          </a:prstGeom>
          <a:solidFill>
            <a:srgbClr val="7C3AED"/>
          </a:solidFill>
          <a:ln/>
        </p:spPr>
        <p:txBody>
          <a:bodyPr/>
          <a:lstStyle/>
          <a:p>
            <a:endParaRPr lang="en-US"/>
          </a:p>
        </p:txBody>
      </p:sp>
      <p:sp>
        <p:nvSpPr>
          <p:cNvPr id="19" name="Text 17"/>
          <p:cNvSpPr/>
          <p:nvPr/>
        </p:nvSpPr>
        <p:spPr>
          <a:xfrm>
            <a:off x="6583680" y="3291840"/>
            <a:ext cx="228600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Chat Modeli</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(phi-3.5-mini)</a:t>
            </a:r>
            <a:endParaRPr lang="en-US" sz="1150" dirty="0"/>
          </a:p>
        </p:txBody>
      </p:sp>
      <p:sp>
        <p:nvSpPr>
          <p:cNvPr id="20" name="Text 18"/>
          <p:cNvSpPr/>
          <p:nvPr/>
        </p:nvSpPr>
        <p:spPr>
          <a:xfrm>
            <a:off x="6080760" y="3291840"/>
            <a:ext cx="411480" cy="123444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3611880" y="3291840"/>
            <a:ext cx="2468880" cy="1234440"/>
          </a:xfrm>
          <a:prstGeom prst="roundRect">
            <a:avLst>
              <a:gd name="adj" fmla="val 7407"/>
            </a:avLst>
          </a:prstGeom>
          <a:solidFill>
            <a:srgbClr val="334155"/>
          </a:solidFill>
          <a:ln/>
        </p:spPr>
        <p:txBody>
          <a:bodyPr/>
          <a:lstStyle/>
          <a:p>
            <a:endParaRPr lang="en-US"/>
          </a:p>
        </p:txBody>
      </p:sp>
      <p:sp>
        <p:nvSpPr>
          <p:cNvPr id="22" name="Text 20"/>
          <p:cNvSpPr/>
          <p:nvPr/>
        </p:nvSpPr>
        <p:spPr>
          <a:xfrm>
            <a:off x="3703320" y="3291840"/>
            <a:ext cx="228600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Üretilen</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Cevap</a:t>
            </a:r>
            <a:endParaRPr lang="en-US" sz="1150" dirty="0"/>
          </a:p>
        </p:txBody>
      </p:sp>
      <p:sp>
        <p:nvSpPr>
          <p:cNvPr id="23" name="Text 21"/>
          <p:cNvSpPr/>
          <p:nvPr/>
        </p:nvSpPr>
        <p:spPr>
          <a:xfrm>
            <a:off x="3200400" y="3291840"/>
            <a:ext cx="411480" cy="123444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822960" y="3291840"/>
            <a:ext cx="2377440" cy="1234440"/>
          </a:xfrm>
          <a:prstGeom prst="roundRect">
            <a:avLst>
              <a:gd name="adj" fmla="val 7407"/>
            </a:avLst>
          </a:prstGeom>
          <a:solidFill>
            <a:srgbClr val="0F766E"/>
          </a:solidFill>
          <a:ln/>
        </p:spPr>
        <p:txBody>
          <a:bodyPr/>
          <a:lstStyle/>
          <a:p>
            <a:endParaRPr lang="en-US"/>
          </a:p>
        </p:txBody>
      </p:sp>
      <p:sp>
        <p:nvSpPr>
          <p:cNvPr id="25" name="Text 23"/>
          <p:cNvSpPr/>
          <p:nvPr/>
        </p:nvSpPr>
        <p:spPr>
          <a:xfrm>
            <a:off x="914400" y="3291840"/>
            <a:ext cx="2194560" cy="12344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Kullanıcıya</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Gösterim</a:t>
            </a:r>
            <a:endParaRPr lang="en-US" sz="1150" dirty="0"/>
          </a:p>
        </p:txBody>
      </p:sp>
      <p:sp>
        <p:nvSpPr>
          <p:cNvPr id="26" name="Text 24"/>
          <p:cNvSpPr/>
          <p:nvPr/>
        </p:nvSpPr>
        <p:spPr>
          <a:xfrm>
            <a:off x="9326880" y="2788920"/>
            <a:ext cx="2057400" cy="411480"/>
          </a:xfrm>
          <a:prstGeom prst="rect">
            <a:avLst/>
          </a:prstGeom>
          <a:noFill/>
          <a:ln/>
        </p:spPr>
        <p:txBody>
          <a:bodyPr wrap="square"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27" name="Shape 25"/>
          <p:cNvSpPr/>
          <p:nvPr/>
        </p:nvSpPr>
        <p:spPr>
          <a:xfrm>
            <a:off x="822960" y="4892040"/>
            <a:ext cx="10561320" cy="868680"/>
          </a:xfrm>
          <a:prstGeom prst="roundRect">
            <a:avLst>
              <a:gd name="adj" fmla="val 10526"/>
            </a:avLst>
          </a:prstGeom>
          <a:solidFill>
            <a:srgbClr val="111827"/>
          </a:solidFill>
          <a:ln w="12700">
            <a:solidFill>
              <a:srgbClr val="2DD4BF"/>
            </a:solidFill>
            <a:prstDash val="solid"/>
          </a:ln>
        </p:spPr>
        <p:txBody>
          <a:bodyPr/>
          <a:lstStyle/>
          <a:p>
            <a:endParaRPr lang="en-US"/>
          </a:p>
        </p:txBody>
      </p:sp>
      <p:sp>
        <p:nvSpPr>
          <p:cNvPr id="28" name="Text 26"/>
          <p:cNvSpPr/>
          <p:nvPr/>
        </p:nvSpPr>
        <p:spPr>
          <a:xfrm>
            <a:off x="1097280" y="4892040"/>
            <a:ext cx="10058400" cy="868680"/>
          </a:xfrm>
          <a:prstGeom prst="rect">
            <a:avLst/>
          </a:prstGeom>
          <a:noFill/>
          <a:ln/>
        </p:spPr>
        <p:txBody>
          <a:bodyPr wrap="square" rtlCol="0" anchor="ctr"/>
          <a:lstStyle/>
          <a:p>
            <a:pPr marL="0" indent="0" algn="ctr">
              <a:buNone/>
            </a:pPr>
            <a:r>
              <a:rPr lang="en-US" sz="1250" b="1" dirty="0">
                <a:solidFill>
                  <a:srgbClr val="2DD4BF"/>
                </a:solidFill>
                <a:latin typeface="Calibri" pitchFamily="34" charset="0"/>
                <a:ea typeface="Calibri" pitchFamily="34" charset="-122"/>
                <a:cs typeface="Calibri" pitchFamily="34" charset="-120"/>
              </a:rPr>
              <a:t>Güvenlik Katmanı: en yüksek benzerlik skoru 0.55'in altındaysa, model hiç çağrılmaz — direkt "bilgim yok" cevabı döner.</a:t>
            </a:r>
            <a:endParaRPr lang="en-US" sz="1250" dirty="0"/>
          </a:p>
        </p:txBody>
      </p:sp>
      <p:sp>
        <p:nvSpPr>
          <p:cNvPr id="29" name="Text 27"/>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30" name="Text 28"/>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Kullanılan Teknolojiler</a:t>
            </a:r>
            <a:endParaRPr lang="en-US" sz="2700" dirty="0"/>
          </a:p>
        </p:txBody>
      </p:sp>
      <p:sp>
        <p:nvSpPr>
          <p:cNvPr id="3" name="Shape 1"/>
          <p:cNvSpPr/>
          <p:nvPr/>
        </p:nvSpPr>
        <p:spPr>
          <a:xfrm>
            <a:off x="822960" y="1463040"/>
            <a:ext cx="3429000" cy="1783080"/>
          </a:xfrm>
          <a:prstGeom prst="roundRect">
            <a:avLst>
              <a:gd name="adj" fmla="val 5128"/>
            </a:avLst>
          </a:prstGeom>
          <a:solidFill>
            <a:srgbClr val="141F35"/>
          </a:solidFill>
          <a:ln/>
        </p:spPr>
        <p:txBody>
          <a:bodyPr/>
          <a:lstStyle/>
          <a:p>
            <a:endParaRPr lang="en-US"/>
          </a:p>
        </p:txBody>
      </p:sp>
      <p:sp>
        <p:nvSpPr>
          <p:cNvPr id="4" name="Shape 2"/>
          <p:cNvSpPr/>
          <p:nvPr/>
        </p:nvSpPr>
        <p:spPr>
          <a:xfrm>
            <a:off x="1097280" y="1719072"/>
            <a:ext cx="438912" cy="438912"/>
          </a:xfrm>
          <a:prstGeom prst="roundRect">
            <a:avLst>
              <a:gd name="adj" fmla="val 16667"/>
            </a:avLst>
          </a:prstGeom>
          <a:solidFill>
            <a:srgbClr val="2DD4BF"/>
          </a:solidFill>
          <a:ln/>
        </p:spPr>
        <p:txBody>
          <a:bodyPr/>
          <a:lstStyle/>
          <a:p>
            <a:endParaRPr lang="en-US"/>
          </a:p>
        </p:txBody>
      </p:sp>
      <p:sp>
        <p:nvSpPr>
          <p:cNvPr id="5" name="Text 3"/>
          <p:cNvSpPr/>
          <p:nvPr/>
        </p:nvSpPr>
        <p:spPr>
          <a:xfrm>
            <a:off x="1097280" y="2286000"/>
            <a:ext cx="2880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Microsoft Foundry Local</a:t>
            </a:r>
            <a:endParaRPr lang="en-US" sz="1400" dirty="0"/>
          </a:p>
        </p:txBody>
      </p:sp>
      <p:sp>
        <p:nvSpPr>
          <p:cNvPr id="6" name="Text 4"/>
          <p:cNvSpPr/>
          <p:nvPr/>
        </p:nvSpPr>
        <p:spPr>
          <a:xfrm>
            <a:off x="1097280" y="2670048"/>
            <a:ext cx="2880360" cy="45720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Yerel LLM çalıştırma altyapısı (v1.2.3)</a:t>
            </a:r>
            <a:endParaRPr lang="en-US" sz="1100" dirty="0"/>
          </a:p>
        </p:txBody>
      </p:sp>
      <p:sp>
        <p:nvSpPr>
          <p:cNvPr id="7" name="Shape 5"/>
          <p:cNvSpPr/>
          <p:nvPr/>
        </p:nvSpPr>
        <p:spPr>
          <a:xfrm>
            <a:off x="4507992" y="1463040"/>
            <a:ext cx="3429000" cy="1783080"/>
          </a:xfrm>
          <a:prstGeom prst="roundRect">
            <a:avLst>
              <a:gd name="adj" fmla="val 5128"/>
            </a:avLst>
          </a:prstGeom>
          <a:solidFill>
            <a:srgbClr val="141F35"/>
          </a:solidFill>
          <a:ln/>
        </p:spPr>
        <p:txBody>
          <a:bodyPr/>
          <a:lstStyle/>
          <a:p>
            <a:endParaRPr lang="en-US"/>
          </a:p>
        </p:txBody>
      </p:sp>
      <p:sp>
        <p:nvSpPr>
          <p:cNvPr id="8" name="Shape 6"/>
          <p:cNvSpPr/>
          <p:nvPr/>
        </p:nvSpPr>
        <p:spPr>
          <a:xfrm>
            <a:off x="4782312" y="1719072"/>
            <a:ext cx="438912" cy="438912"/>
          </a:xfrm>
          <a:prstGeom prst="roundRect">
            <a:avLst>
              <a:gd name="adj" fmla="val 16667"/>
            </a:avLst>
          </a:prstGeom>
          <a:solidFill>
            <a:srgbClr val="A78BFA"/>
          </a:solidFill>
          <a:ln/>
        </p:spPr>
        <p:txBody>
          <a:bodyPr/>
          <a:lstStyle/>
          <a:p>
            <a:endParaRPr lang="en-US"/>
          </a:p>
        </p:txBody>
      </p:sp>
      <p:sp>
        <p:nvSpPr>
          <p:cNvPr id="9" name="Text 7"/>
          <p:cNvSpPr/>
          <p:nvPr/>
        </p:nvSpPr>
        <p:spPr>
          <a:xfrm>
            <a:off x="4782312" y="2286000"/>
            <a:ext cx="2880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phi-3.5-mini</a:t>
            </a:r>
            <a:endParaRPr lang="en-US" sz="1400" dirty="0"/>
          </a:p>
        </p:txBody>
      </p:sp>
      <p:sp>
        <p:nvSpPr>
          <p:cNvPr id="10" name="Text 8"/>
          <p:cNvSpPr/>
          <p:nvPr/>
        </p:nvSpPr>
        <p:spPr>
          <a:xfrm>
            <a:off x="4782312" y="2670048"/>
            <a:ext cx="2880360" cy="45720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Cevap üretme (chat) modeli</a:t>
            </a:r>
            <a:endParaRPr lang="en-US" sz="1100" dirty="0"/>
          </a:p>
        </p:txBody>
      </p:sp>
      <p:sp>
        <p:nvSpPr>
          <p:cNvPr id="11" name="Shape 9"/>
          <p:cNvSpPr/>
          <p:nvPr/>
        </p:nvSpPr>
        <p:spPr>
          <a:xfrm>
            <a:off x="8193024" y="1463040"/>
            <a:ext cx="3429000" cy="1783080"/>
          </a:xfrm>
          <a:prstGeom prst="roundRect">
            <a:avLst>
              <a:gd name="adj" fmla="val 5128"/>
            </a:avLst>
          </a:prstGeom>
          <a:solidFill>
            <a:srgbClr val="141F35"/>
          </a:solidFill>
          <a:ln/>
        </p:spPr>
        <p:txBody>
          <a:bodyPr/>
          <a:lstStyle/>
          <a:p>
            <a:endParaRPr lang="en-US"/>
          </a:p>
        </p:txBody>
      </p:sp>
      <p:sp>
        <p:nvSpPr>
          <p:cNvPr id="12" name="Shape 10"/>
          <p:cNvSpPr/>
          <p:nvPr/>
        </p:nvSpPr>
        <p:spPr>
          <a:xfrm>
            <a:off x="8467344" y="1719072"/>
            <a:ext cx="438912" cy="438912"/>
          </a:xfrm>
          <a:prstGeom prst="roundRect">
            <a:avLst>
              <a:gd name="adj" fmla="val 16667"/>
            </a:avLst>
          </a:prstGeom>
          <a:solidFill>
            <a:srgbClr val="F59E0B"/>
          </a:solidFill>
          <a:ln/>
        </p:spPr>
        <p:txBody>
          <a:bodyPr/>
          <a:lstStyle/>
          <a:p>
            <a:endParaRPr lang="en-US"/>
          </a:p>
        </p:txBody>
      </p:sp>
      <p:sp>
        <p:nvSpPr>
          <p:cNvPr id="13" name="Text 11"/>
          <p:cNvSpPr/>
          <p:nvPr/>
        </p:nvSpPr>
        <p:spPr>
          <a:xfrm>
            <a:off x="8467344" y="2286000"/>
            <a:ext cx="2880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qwen3-embedding-0.6b</a:t>
            </a:r>
            <a:endParaRPr lang="en-US" sz="1400" dirty="0"/>
          </a:p>
        </p:txBody>
      </p:sp>
      <p:sp>
        <p:nvSpPr>
          <p:cNvPr id="14" name="Text 12"/>
          <p:cNvSpPr/>
          <p:nvPr/>
        </p:nvSpPr>
        <p:spPr>
          <a:xfrm>
            <a:off x="8467344" y="2670048"/>
            <a:ext cx="2880360" cy="45720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Metni vektöre çeviren embedding modeli</a:t>
            </a:r>
            <a:endParaRPr lang="en-US" sz="1100" dirty="0"/>
          </a:p>
        </p:txBody>
      </p:sp>
      <p:sp>
        <p:nvSpPr>
          <p:cNvPr id="15" name="Shape 13"/>
          <p:cNvSpPr/>
          <p:nvPr/>
        </p:nvSpPr>
        <p:spPr>
          <a:xfrm>
            <a:off x="822960" y="3520440"/>
            <a:ext cx="3429000" cy="1783080"/>
          </a:xfrm>
          <a:prstGeom prst="roundRect">
            <a:avLst>
              <a:gd name="adj" fmla="val 5128"/>
            </a:avLst>
          </a:prstGeom>
          <a:solidFill>
            <a:srgbClr val="141F35"/>
          </a:solidFill>
          <a:ln/>
        </p:spPr>
        <p:txBody>
          <a:bodyPr/>
          <a:lstStyle/>
          <a:p>
            <a:endParaRPr lang="en-US"/>
          </a:p>
        </p:txBody>
      </p:sp>
      <p:sp>
        <p:nvSpPr>
          <p:cNvPr id="16" name="Shape 14"/>
          <p:cNvSpPr/>
          <p:nvPr/>
        </p:nvSpPr>
        <p:spPr>
          <a:xfrm>
            <a:off x="1097280" y="3776472"/>
            <a:ext cx="438912" cy="438912"/>
          </a:xfrm>
          <a:prstGeom prst="roundRect">
            <a:avLst>
              <a:gd name="adj" fmla="val 16667"/>
            </a:avLst>
          </a:prstGeom>
          <a:solidFill>
            <a:srgbClr val="60A5FA"/>
          </a:solidFill>
          <a:ln/>
        </p:spPr>
        <p:txBody>
          <a:bodyPr/>
          <a:lstStyle/>
          <a:p>
            <a:endParaRPr lang="en-US"/>
          </a:p>
        </p:txBody>
      </p:sp>
      <p:sp>
        <p:nvSpPr>
          <p:cNvPr id="17" name="Text 15"/>
          <p:cNvSpPr/>
          <p:nvPr/>
        </p:nvSpPr>
        <p:spPr>
          <a:xfrm>
            <a:off x="1097280" y="4343400"/>
            <a:ext cx="2880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SQLite</a:t>
            </a:r>
            <a:endParaRPr lang="en-US" sz="1400" dirty="0"/>
          </a:p>
        </p:txBody>
      </p:sp>
      <p:sp>
        <p:nvSpPr>
          <p:cNvPr id="18" name="Text 16"/>
          <p:cNvSpPr/>
          <p:nvPr/>
        </p:nvSpPr>
        <p:spPr>
          <a:xfrm>
            <a:off x="1097280" y="4727448"/>
            <a:ext cx="2880360" cy="45720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Doküman + embedding depolama</a:t>
            </a:r>
            <a:endParaRPr lang="en-US" sz="1100" dirty="0"/>
          </a:p>
        </p:txBody>
      </p:sp>
      <p:sp>
        <p:nvSpPr>
          <p:cNvPr id="19" name="Shape 17"/>
          <p:cNvSpPr/>
          <p:nvPr/>
        </p:nvSpPr>
        <p:spPr>
          <a:xfrm>
            <a:off x="4507992" y="3520440"/>
            <a:ext cx="3429000" cy="1783080"/>
          </a:xfrm>
          <a:prstGeom prst="roundRect">
            <a:avLst>
              <a:gd name="adj" fmla="val 5128"/>
            </a:avLst>
          </a:prstGeom>
          <a:solidFill>
            <a:srgbClr val="141F35"/>
          </a:solidFill>
          <a:ln/>
        </p:spPr>
        <p:txBody>
          <a:bodyPr/>
          <a:lstStyle/>
          <a:p>
            <a:endParaRPr lang="en-US"/>
          </a:p>
        </p:txBody>
      </p:sp>
      <p:sp>
        <p:nvSpPr>
          <p:cNvPr id="20" name="Shape 18"/>
          <p:cNvSpPr/>
          <p:nvPr/>
        </p:nvSpPr>
        <p:spPr>
          <a:xfrm>
            <a:off x="4782312" y="3776472"/>
            <a:ext cx="438912" cy="438912"/>
          </a:xfrm>
          <a:prstGeom prst="roundRect">
            <a:avLst>
              <a:gd name="adj" fmla="val 16667"/>
            </a:avLst>
          </a:prstGeom>
          <a:solidFill>
            <a:srgbClr val="4ADE80"/>
          </a:solidFill>
          <a:ln/>
        </p:spPr>
        <p:txBody>
          <a:bodyPr/>
          <a:lstStyle/>
          <a:p>
            <a:endParaRPr lang="en-US"/>
          </a:p>
        </p:txBody>
      </p:sp>
      <p:sp>
        <p:nvSpPr>
          <p:cNvPr id="21" name="Text 19"/>
          <p:cNvSpPr/>
          <p:nvPr/>
        </p:nvSpPr>
        <p:spPr>
          <a:xfrm>
            <a:off x="4782312" y="4343400"/>
            <a:ext cx="2880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NumPy</a:t>
            </a:r>
            <a:endParaRPr lang="en-US" sz="1400" dirty="0"/>
          </a:p>
        </p:txBody>
      </p:sp>
      <p:sp>
        <p:nvSpPr>
          <p:cNvPr id="22" name="Text 20"/>
          <p:cNvSpPr/>
          <p:nvPr/>
        </p:nvSpPr>
        <p:spPr>
          <a:xfrm>
            <a:off x="4782312" y="4727448"/>
            <a:ext cx="2880360" cy="45720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Kosinüs benzerliği hesaplama</a:t>
            </a:r>
            <a:endParaRPr lang="en-US" sz="1100" dirty="0"/>
          </a:p>
        </p:txBody>
      </p:sp>
      <p:sp>
        <p:nvSpPr>
          <p:cNvPr id="23" name="Shape 21"/>
          <p:cNvSpPr/>
          <p:nvPr/>
        </p:nvSpPr>
        <p:spPr>
          <a:xfrm>
            <a:off x="8193024" y="3520440"/>
            <a:ext cx="3429000" cy="1783080"/>
          </a:xfrm>
          <a:prstGeom prst="roundRect">
            <a:avLst>
              <a:gd name="adj" fmla="val 5128"/>
            </a:avLst>
          </a:prstGeom>
          <a:solidFill>
            <a:srgbClr val="141F35"/>
          </a:solidFill>
          <a:ln/>
        </p:spPr>
        <p:txBody>
          <a:bodyPr/>
          <a:lstStyle/>
          <a:p>
            <a:endParaRPr lang="en-US"/>
          </a:p>
        </p:txBody>
      </p:sp>
      <p:sp>
        <p:nvSpPr>
          <p:cNvPr id="24" name="Shape 22"/>
          <p:cNvSpPr/>
          <p:nvPr/>
        </p:nvSpPr>
        <p:spPr>
          <a:xfrm>
            <a:off x="8467344" y="3776472"/>
            <a:ext cx="438912" cy="438912"/>
          </a:xfrm>
          <a:prstGeom prst="roundRect">
            <a:avLst>
              <a:gd name="adj" fmla="val 16667"/>
            </a:avLst>
          </a:prstGeom>
          <a:solidFill>
            <a:srgbClr val="F472B6"/>
          </a:solidFill>
          <a:ln/>
        </p:spPr>
        <p:txBody>
          <a:bodyPr/>
          <a:lstStyle/>
          <a:p>
            <a:endParaRPr lang="en-US"/>
          </a:p>
        </p:txBody>
      </p:sp>
      <p:sp>
        <p:nvSpPr>
          <p:cNvPr id="25" name="Text 23"/>
          <p:cNvSpPr/>
          <p:nvPr/>
        </p:nvSpPr>
        <p:spPr>
          <a:xfrm>
            <a:off x="8467344" y="4343400"/>
            <a:ext cx="288036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Python 3.14</a:t>
            </a:r>
            <a:endParaRPr lang="en-US" sz="1400" dirty="0"/>
          </a:p>
        </p:txBody>
      </p:sp>
      <p:sp>
        <p:nvSpPr>
          <p:cNvPr id="26" name="Text 24"/>
          <p:cNvSpPr/>
          <p:nvPr/>
        </p:nvSpPr>
        <p:spPr>
          <a:xfrm>
            <a:off x="8467344" y="4727448"/>
            <a:ext cx="2880360" cy="45720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Tüm sistemin geliştirildiği dil</a:t>
            </a:r>
            <a:endParaRPr lang="en-US" sz="1100" dirty="0"/>
          </a:p>
        </p:txBody>
      </p:sp>
      <p:sp>
        <p:nvSpPr>
          <p:cNvPr id="27" name="Text 25"/>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28" name="Text 26"/>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Proje Klasör Yapısı</a:t>
            </a:r>
            <a:endParaRPr lang="en-US" sz="2700" dirty="0"/>
          </a:p>
        </p:txBody>
      </p:sp>
      <p:sp>
        <p:nvSpPr>
          <p:cNvPr id="3" name="Shape 1"/>
          <p:cNvSpPr/>
          <p:nvPr/>
        </p:nvSpPr>
        <p:spPr>
          <a:xfrm>
            <a:off x="822960" y="1463040"/>
            <a:ext cx="6400800" cy="4846320"/>
          </a:xfrm>
          <a:prstGeom prst="roundRect">
            <a:avLst>
              <a:gd name="adj" fmla="val 1509"/>
            </a:avLst>
          </a:prstGeom>
          <a:solidFill>
            <a:srgbClr val="0F172A"/>
          </a:solidFill>
          <a:ln w="12700">
            <a:solidFill>
              <a:srgbClr val="1E293B"/>
            </a:solidFill>
            <a:prstDash val="solid"/>
          </a:ln>
        </p:spPr>
        <p:txBody>
          <a:bodyPr/>
          <a:lstStyle/>
          <a:p>
            <a:endParaRPr lang="en-US"/>
          </a:p>
        </p:txBody>
      </p:sp>
      <p:sp>
        <p:nvSpPr>
          <p:cNvPr id="4" name="Text 2"/>
          <p:cNvSpPr/>
          <p:nvPr/>
        </p:nvSpPr>
        <p:spPr>
          <a:xfrm>
            <a:off x="1051560" y="1627632"/>
            <a:ext cx="5943600" cy="4517136"/>
          </a:xfrm>
          <a:prstGeom prst="rect">
            <a:avLst/>
          </a:prstGeom>
          <a:noFill/>
          <a:ln/>
        </p:spPr>
        <p:txBody>
          <a:bodyPr wrap="square" rtlCol="0" anchor="t"/>
          <a:lstStyle/>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local-rag-assistant/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documents/</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|-- 01_rag.txt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|-- 02_embedding.txt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|-- 03_cosinus.txt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|-- 04_prompt_injection.txt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|-- 05_phishing.txt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|-- 06_zeroday.txt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|-- 07_2fa.txt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`-- 08_finetuning.txt</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dev-tools/</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retrieve.py</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 check_db.py</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ingest.py</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app.py</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knowledge.db</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requirements / venv</a:t>
            </a:r>
            <a:endParaRPr lang="en-US" sz="1300" dirty="0"/>
          </a:p>
          <a:p>
            <a:pPr marL="0" indent="0">
              <a:lnSpc>
                <a:spcPct val="115000"/>
              </a:lnSpc>
              <a:buNone/>
            </a:pPr>
            <a:r>
              <a:rPr lang="en-US" sz="1300" dirty="0">
                <a:solidFill>
                  <a:srgbClr val="E2E8F0"/>
                </a:solidFill>
                <a:latin typeface="Consolas" pitchFamily="34" charset="0"/>
                <a:ea typeface="Consolas" pitchFamily="34" charset="-122"/>
                <a:cs typeface="Consolas" pitchFamily="34" charset="-120"/>
              </a:rPr>
              <a:t>`-- README.md</a:t>
            </a:r>
            <a:endParaRPr lang="en-US" sz="1300" dirty="0"/>
          </a:p>
        </p:txBody>
      </p:sp>
      <p:sp>
        <p:nvSpPr>
          <p:cNvPr id="5" name="Shape 3"/>
          <p:cNvSpPr/>
          <p:nvPr/>
        </p:nvSpPr>
        <p:spPr>
          <a:xfrm>
            <a:off x="7452360" y="1463040"/>
            <a:ext cx="3931920" cy="4846320"/>
          </a:xfrm>
          <a:prstGeom prst="roundRect">
            <a:avLst>
              <a:gd name="adj" fmla="val 2791"/>
            </a:avLst>
          </a:prstGeom>
          <a:solidFill>
            <a:srgbClr val="141F35"/>
          </a:solidFill>
          <a:ln/>
        </p:spPr>
        <p:txBody>
          <a:bodyPr/>
          <a:lstStyle/>
          <a:p>
            <a:endParaRPr lang="en-US"/>
          </a:p>
        </p:txBody>
      </p:sp>
      <p:sp>
        <p:nvSpPr>
          <p:cNvPr id="6" name="Text 4"/>
          <p:cNvSpPr/>
          <p:nvPr/>
        </p:nvSpPr>
        <p:spPr>
          <a:xfrm>
            <a:off x="7726680" y="1691640"/>
            <a:ext cx="3474720" cy="320040"/>
          </a:xfrm>
          <a:prstGeom prst="rect">
            <a:avLst/>
          </a:prstGeom>
          <a:noFill/>
          <a:ln/>
        </p:spPr>
        <p:txBody>
          <a:bodyPr wrap="square" rtlCol="0" anchor="ctr"/>
          <a:lstStyle/>
          <a:p>
            <a:pPr marL="0" indent="0">
              <a:buNone/>
            </a:pPr>
            <a:r>
              <a:rPr lang="en-US" sz="1300" b="1" dirty="0">
                <a:solidFill>
                  <a:srgbClr val="2DD4BF"/>
                </a:solidFill>
                <a:latin typeface="Consolas" pitchFamily="34" charset="0"/>
                <a:ea typeface="Consolas" pitchFamily="34" charset="-122"/>
                <a:cs typeface="Consolas" pitchFamily="34" charset="-120"/>
              </a:rPr>
              <a:t>documents/</a:t>
            </a:r>
            <a:endParaRPr lang="en-US" sz="1300" dirty="0"/>
          </a:p>
        </p:txBody>
      </p:sp>
      <p:sp>
        <p:nvSpPr>
          <p:cNvPr id="7" name="Text 5"/>
          <p:cNvSpPr/>
          <p:nvPr/>
        </p:nvSpPr>
        <p:spPr>
          <a:xfrm>
            <a:off x="7726680" y="2011680"/>
            <a:ext cx="3474720" cy="3657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8 kaynak doküman (.txt)</a:t>
            </a:r>
            <a:endParaRPr lang="en-US" sz="1150" dirty="0"/>
          </a:p>
        </p:txBody>
      </p:sp>
      <p:sp>
        <p:nvSpPr>
          <p:cNvPr id="8" name="Text 6"/>
          <p:cNvSpPr/>
          <p:nvPr/>
        </p:nvSpPr>
        <p:spPr>
          <a:xfrm>
            <a:off x="7726680" y="2441448"/>
            <a:ext cx="3474720" cy="320040"/>
          </a:xfrm>
          <a:prstGeom prst="rect">
            <a:avLst/>
          </a:prstGeom>
          <a:noFill/>
          <a:ln/>
        </p:spPr>
        <p:txBody>
          <a:bodyPr wrap="square" rtlCol="0" anchor="ctr"/>
          <a:lstStyle/>
          <a:p>
            <a:pPr marL="0" indent="0">
              <a:buNone/>
            </a:pPr>
            <a:r>
              <a:rPr lang="en-US" sz="1300" b="1" dirty="0">
                <a:solidFill>
                  <a:srgbClr val="2DD4BF"/>
                </a:solidFill>
                <a:latin typeface="Consolas" pitchFamily="34" charset="0"/>
                <a:ea typeface="Consolas" pitchFamily="34" charset="-122"/>
                <a:cs typeface="Consolas" pitchFamily="34" charset="-120"/>
              </a:rPr>
              <a:t>ingest.py</a:t>
            </a:r>
            <a:endParaRPr lang="en-US" sz="1300" dirty="0"/>
          </a:p>
        </p:txBody>
      </p:sp>
      <p:sp>
        <p:nvSpPr>
          <p:cNvPr id="9" name="Text 7"/>
          <p:cNvSpPr/>
          <p:nvPr/>
        </p:nvSpPr>
        <p:spPr>
          <a:xfrm>
            <a:off x="7726680" y="2761488"/>
            <a:ext cx="3474720" cy="3657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Dokümanları işleyip veritabanına kaydeder</a:t>
            </a:r>
            <a:endParaRPr lang="en-US" sz="1150" dirty="0"/>
          </a:p>
        </p:txBody>
      </p:sp>
      <p:sp>
        <p:nvSpPr>
          <p:cNvPr id="10" name="Text 8"/>
          <p:cNvSpPr/>
          <p:nvPr/>
        </p:nvSpPr>
        <p:spPr>
          <a:xfrm>
            <a:off x="7726680" y="3191256"/>
            <a:ext cx="3474720" cy="320040"/>
          </a:xfrm>
          <a:prstGeom prst="rect">
            <a:avLst/>
          </a:prstGeom>
          <a:noFill/>
          <a:ln/>
        </p:spPr>
        <p:txBody>
          <a:bodyPr wrap="square" rtlCol="0" anchor="ctr"/>
          <a:lstStyle/>
          <a:p>
            <a:pPr marL="0" indent="0">
              <a:buNone/>
            </a:pPr>
            <a:r>
              <a:rPr lang="en-US" sz="1300" b="1" dirty="0">
                <a:solidFill>
                  <a:srgbClr val="2DD4BF"/>
                </a:solidFill>
                <a:latin typeface="Consolas" pitchFamily="34" charset="0"/>
                <a:ea typeface="Consolas" pitchFamily="34" charset="-122"/>
                <a:cs typeface="Consolas" pitchFamily="34" charset="-120"/>
              </a:rPr>
              <a:t>app.py</a:t>
            </a:r>
            <a:endParaRPr lang="en-US" sz="1300" dirty="0"/>
          </a:p>
        </p:txBody>
      </p:sp>
      <p:sp>
        <p:nvSpPr>
          <p:cNvPr id="11" name="Text 9"/>
          <p:cNvSpPr/>
          <p:nvPr/>
        </p:nvSpPr>
        <p:spPr>
          <a:xfrm>
            <a:off x="7726680" y="3511296"/>
            <a:ext cx="3474720" cy="3657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Ana uygulama — chat arayüzü</a:t>
            </a:r>
            <a:endParaRPr lang="en-US" sz="1150" dirty="0"/>
          </a:p>
        </p:txBody>
      </p:sp>
      <p:sp>
        <p:nvSpPr>
          <p:cNvPr id="12" name="Text 10"/>
          <p:cNvSpPr/>
          <p:nvPr/>
        </p:nvSpPr>
        <p:spPr>
          <a:xfrm>
            <a:off x="7726680" y="3941064"/>
            <a:ext cx="3474720" cy="320040"/>
          </a:xfrm>
          <a:prstGeom prst="rect">
            <a:avLst/>
          </a:prstGeom>
          <a:noFill/>
          <a:ln/>
        </p:spPr>
        <p:txBody>
          <a:bodyPr wrap="square" rtlCol="0" anchor="ctr"/>
          <a:lstStyle/>
          <a:p>
            <a:pPr marL="0" indent="0">
              <a:buNone/>
            </a:pPr>
            <a:r>
              <a:rPr lang="en-US" sz="1300" b="1" dirty="0">
                <a:solidFill>
                  <a:srgbClr val="2DD4BF"/>
                </a:solidFill>
                <a:latin typeface="Consolas" pitchFamily="34" charset="0"/>
                <a:ea typeface="Consolas" pitchFamily="34" charset="-122"/>
                <a:cs typeface="Consolas" pitchFamily="34" charset="-120"/>
              </a:rPr>
              <a:t>dev-tools/</a:t>
            </a:r>
            <a:endParaRPr lang="en-US" sz="1300" dirty="0"/>
          </a:p>
        </p:txBody>
      </p:sp>
      <p:sp>
        <p:nvSpPr>
          <p:cNvPr id="13" name="Text 11"/>
          <p:cNvSpPr/>
          <p:nvPr/>
        </p:nvSpPr>
        <p:spPr>
          <a:xfrm>
            <a:off x="7726680" y="4261104"/>
            <a:ext cx="3474720" cy="3657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Test ve doğrulama scriptleri</a:t>
            </a:r>
            <a:endParaRPr lang="en-US" sz="1150" dirty="0"/>
          </a:p>
        </p:txBody>
      </p:sp>
      <p:sp>
        <p:nvSpPr>
          <p:cNvPr id="14" name="Text 12"/>
          <p:cNvSpPr/>
          <p:nvPr/>
        </p:nvSpPr>
        <p:spPr>
          <a:xfrm>
            <a:off x="7726680" y="4690872"/>
            <a:ext cx="3474720" cy="320040"/>
          </a:xfrm>
          <a:prstGeom prst="rect">
            <a:avLst/>
          </a:prstGeom>
          <a:noFill/>
          <a:ln/>
        </p:spPr>
        <p:txBody>
          <a:bodyPr wrap="square" rtlCol="0" anchor="ctr"/>
          <a:lstStyle/>
          <a:p>
            <a:pPr marL="0" indent="0">
              <a:buNone/>
            </a:pPr>
            <a:r>
              <a:rPr lang="en-US" sz="1300" b="1" dirty="0">
                <a:solidFill>
                  <a:srgbClr val="2DD4BF"/>
                </a:solidFill>
                <a:latin typeface="Consolas" pitchFamily="34" charset="0"/>
                <a:ea typeface="Consolas" pitchFamily="34" charset="-122"/>
                <a:cs typeface="Consolas" pitchFamily="34" charset="-120"/>
              </a:rPr>
              <a:t>knowledge.db</a:t>
            </a:r>
            <a:endParaRPr lang="en-US" sz="1300" dirty="0"/>
          </a:p>
        </p:txBody>
      </p:sp>
      <p:sp>
        <p:nvSpPr>
          <p:cNvPr id="15" name="Text 13"/>
          <p:cNvSpPr/>
          <p:nvPr/>
        </p:nvSpPr>
        <p:spPr>
          <a:xfrm>
            <a:off x="7726680" y="5010912"/>
            <a:ext cx="3474720" cy="3657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SQLite veritabanı (57 kayıt)</a:t>
            </a:r>
            <a:endParaRPr lang="en-US" sz="1150" dirty="0"/>
          </a:p>
        </p:txBody>
      </p:sp>
      <p:sp>
        <p:nvSpPr>
          <p:cNvPr id="16" name="Text 14"/>
          <p:cNvSpPr/>
          <p:nvPr/>
        </p:nvSpPr>
        <p:spPr>
          <a:xfrm>
            <a:off x="7726680" y="5440680"/>
            <a:ext cx="3474720" cy="320040"/>
          </a:xfrm>
          <a:prstGeom prst="rect">
            <a:avLst/>
          </a:prstGeom>
          <a:noFill/>
          <a:ln/>
        </p:spPr>
        <p:txBody>
          <a:bodyPr wrap="square" rtlCol="0" anchor="ctr"/>
          <a:lstStyle/>
          <a:p>
            <a:pPr marL="0" indent="0">
              <a:buNone/>
            </a:pPr>
            <a:r>
              <a:rPr lang="en-US" sz="1300" b="1" dirty="0">
                <a:solidFill>
                  <a:srgbClr val="2DD4BF"/>
                </a:solidFill>
                <a:latin typeface="Consolas" pitchFamily="34" charset="0"/>
                <a:ea typeface="Consolas" pitchFamily="34" charset="-122"/>
                <a:cs typeface="Consolas" pitchFamily="34" charset="-120"/>
              </a:rPr>
              <a:t>README.md</a:t>
            </a:r>
            <a:endParaRPr lang="en-US" sz="1300" dirty="0"/>
          </a:p>
        </p:txBody>
      </p:sp>
      <p:sp>
        <p:nvSpPr>
          <p:cNvPr id="17" name="Text 15"/>
          <p:cNvSpPr/>
          <p:nvPr/>
        </p:nvSpPr>
        <p:spPr>
          <a:xfrm>
            <a:off x="7726680" y="5760720"/>
            <a:ext cx="3474720" cy="3657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Kurulum ve kullanım dokümantasyonu</a:t>
            </a:r>
            <a:endParaRPr lang="en-US" sz="1150" dirty="0"/>
          </a:p>
        </p:txBody>
      </p:sp>
      <p:sp>
        <p:nvSpPr>
          <p:cNvPr id="18" name="Text 16"/>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19" name="Text 17"/>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Kurulum — Adım Adım</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Windows 10/11 (64-bit), Python 3.10+</a:t>
            </a:r>
            <a:endParaRPr lang="en-US" sz="1350" dirty="0"/>
          </a:p>
        </p:txBody>
      </p:sp>
      <p:sp>
        <p:nvSpPr>
          <p:cNvPr id="4" name="Shape 2"/>
          <p:cNvSpPr/>
          <p:nvPr/>
        </p:nvSpPr>
        <p:spPr>
          <a:xfrm>
            <a:off x="822960" y="1554480"/>
            <a:ext cx="457200" cy="457200"/>
          </a:xfrm>
          <a:prstGeom prst="ellipse">
            <a:avLst/>
          </a:prstGeom>
          <a:solidFill>
            <a:srgbClr val="2DD4BF">
              <a:alpha val="85000"/>
            </a:srgbClr>
          </a:solidFill>
          <a:ln/>
        </p:spPr>
        <p:txBody>
          <a:bodyPr/>
          <a:lstStyle/>
          <a:p>
            <a:endParaRPr lang="en-US"/>
          </a:p>
        </p:txBody>
      </p:sp>
      <p:sp>
        <p:nvSpPr>
          <p:cNvPr id="5" name="Text 3"/>
          <p:cNvSpPr/>
          <p:nvPr/>
        </p:nvSpPr>
        <p:spPr>
          <a:xfrm>
            <a:off x="822960" y="155448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463040" y="1463040"/>
            <a:ext cx="3291840" cy="10972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Foundry Local'ı kur</a:t>
            </a:r>
            <a:endParaRPr lang="en-US" sz="1350" dirty="0"/>
          </a:p>
        </p:txBody>
      </p:sp>
      <p:sp>
        <p:nvSpPr>
          <p:cNvPr id="7" name="Shape 5"/>
          <p:cNvSpPr/>
          <p:nvPr/>
        </p:nvSpPr>
        <p:spPr>
          <a:xfrm>
            <a:off x="4892040" y="1463040"/>
            <a:ext cx="649224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8" name="Text 6"/>
          <p:cNvSpPr/>
          <p:nvPr/>
        </p:nvSpPr>
        <p:spPr>
          <a:xfrm>
            <a:off x="5120640" y="1627632"/>
            <a:ext cx="603504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winget install Microsoft.FoundryLocal</a:t>
            </a:r>
            <a:endParaRPr lang="en-US" sz="1200" dirty="0"/>
          </a:p>
        </p:txBody>
      </p:sp>
      <p:sp>
        <p:nvSpPr>
          <p:cNvPr id="9" name="Shape 7"/>
          <p:cNvSpPr/>
          <p:nvPr/>
        </p:nvSpPr>
        <p:spPr>
          <a:xfrm>
            <a:off x="822960" y="2788920"/>
            <a:ext cx="457200" cy="457200"/>
          </a:xfrm>
          <a:prstGeom prst="ellipse">
            <a:avLst/>
          </a:prstGeom>
          <a:solidFill>
            <a:srgbClr val="2DD4BF">
              <a:alpha val="85000"/>
            </a:srgbClr>
          </a:solidFill>
          <a:ln/>
        </p:spPr>
        <p:txBody>
          <a:bodyPr/>
          <a:lstStyle/>
          <a:p>
            <a:endParaRPr lang="en-US"/>
          </a:p>
        </p:txBody>
      </p:sp>
      <p:sp>
        <p:nvSpPr>
          <p:cNvPr id="10" name="Text 8"/>
          <p:cNvSpPr/>
          <p:nvPr/>
        </p:nvSpPr>
        <p:spPr>
          <a:xfrm>
            <a:off x="822960" y="278892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463040" y="2697480"/>
            <a:ext cx="3291840" cy="10972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Repoyu klonla</a:t>
            </a:r>
            <a:endParaRPr lang="en-US" sz="1350" dirty="0"/>
          </a:p>
        </p:txBody>
      </p:sp>
      <p:sp>
        <p:nvSpPr>
          <p:cNvPr id="12" name="Shape 10"/>
          <p:cNvSpPr/>
          <p:nvPr/>
        </p:nvSpPr>
        <p:spPr>
          <a:xfrm>
            <a:off x="4892040" y="2697480"/>
            <a:ext cx="649224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13" name="Text 11"/>
          <p:cNvSpPr/>
          <p:nvPr/>
        </p:nvSpPr>
        <p:spPr>
          <a:xfrm>
            <a:off x="5120640" y="2862072"/>
            <a:ext cx="603504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git clone https://github.com/nurefsann07/</a:t>
            </a:r>
            <a:endParaRPr lang="en-US" sz="1200" dirty="0"/>
          </a:p>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  local-rag-assistant.git</a:t>
            </a:r>
            <a:endParaRPr lang="en-US" sz="1200" dirty="0"/>
          </a:p>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cd local-rag-assistant</a:t>
            </a:r>
            <a:endParaRPr lang="en-US" sz="1200" dirty="0"/>
          </a:p>
        </p:txBody>
      </p:sp>
      <p:sp>
        <p:nvSpPr>
          <p:cNvPr id="14" name="Shape 12"/>
          <p:cNvSpPr/>
          <p:nvPr/>
        </p:nvSpPr>
        <p:spPr>
          <a:xfrm>
            <a:off x="822960" y="4023360"/>
            <a:ext cx="457200" cy="457200"/>
          </a:xfrm>
          <a:prstGeom prst="ellipse">
            <a:avLst/>
          </a:prstGeom>
          <a:solidFill>
            <a:srgbClr val="2DD4BF">
              <a:alpha val="85000"/>
            </a:srgbClr>
          </a:solidFill>
          <a:ln/>
        </p:spPr>
        <p:txBody>
          <a:bodyPr/>
          <a:lstStyle/>
          <a:p>
            <a:endParaRPr lang="en-US"/>
          </a:p>
        </p:txBody>
      </p:sp>
      <p:sp>
        <p:nvSpPr>
          <p:cNvPr id="15" name="Text 13"/>
          <p:cNvSpPr/>
          <p:nvPr/>
        </p:nvSpPr>
        <p:spPr>
          <a:xfrm>
            <a:off x="822960" y="402336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931920"/>
            <a:ext cx="3291840" cy="10972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Sanal ortam oluştur ve aktif et</a:t>
            </a:r>
            <a:endParaRPr lang="en-US" sz="1350" dirty="0"/>
          </a:p>
        </p:txBody>
      </p:sp>
      <p:sp>
        <p:nvSpPr>
          <p:cNvPr id="17" name="Shape 15"/>
          <p:cNvSpPr/>
          <p:nvPr/>
        </p:nvSpPr>
        <p:spPr>
          <a:xfrm>
            <a:off x="4892040" y="3931920"/>
            <a:ext cx="649224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18" name="Text 16"/>
          <p:cNvSpPr/>
          <p:nvPr/>
        </p:nvSpPr>
        <p:spPr>
          <a:xfrm>
            <a:off x="5120640" y="4096512"/>
            <a:ext cx="603504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python -m venv venv</a:t>
            </a:r>
            <a:endParaRPr lang="en-US" sz="1200" dirty="0"/>
          </a:p>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venv\Scripts\activate</a:t>
            </a:r>
            <a:endParaRPr lang="en-US" sz="1200" dirty="0"/>
          </a:p>
        </p:txBody>
      </p:sp>
      <p:sp>
        <p:nvSpPr>
          <p:cNvPr id="19" name="Shape 17"/>
          <p:cNvSpPr/>
          <p:nvPr/>
        </p:nvSpPr>
        <p:spPr>
          <a:xfrm>
            <a:off x="822960" y="5257800"/>
            <a:ext cx="457200" cy="457200"/>
          </a:xfrm>
          <a:prstGeom prst="ellipse">
            <a:avLst/>
          </a:prstGeom>
          <a:solidFill>
            <a:srgbClr val="2DD4BF">
              <a:alpha val="85000"/>
            </a:srgbClr>
          </a:solidFill>
          <a:ln/>
        </p:spPr>
        <p:txBody>
          <a:bodyPr/>
          <a:lstStyle/>
          <a:p>
            <a:endParaRPr lang="en-US"/>
          </a:p>
        </p:txBody>
      </p:sp>
      <p:sp>
        <p:nvSpPr>
          <p:cNvPr id="20" name="Text 18"/>
          <p:cNvSpPr/>
          <p:nvPr/>
        </p:nvSpPr>
        <p:spPr>
          <a:xfrm>
            <a:off x="822960" y="525780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1463040" y="5166360"/>
            <a:ext cx="3291840" cy="10972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Gerekli kütüphaneleri kur</a:t>
            </a:r>
            <a:endParaRPr lang="en-US" sz="1350" dirty="0"/>
          </a:p>
        </p:txBody>
      </p:sp>
      <p:sp>
        <p:nvSpPr>
          <p:cNvPr id="22" name="Shape 20"/>
          <p:cNvSpPr/>
          <p:nvPr/>
        </p:nvSpPr>
        <p:spPr>
          <a:xfrm>
            <a:off x="4892040" y="5166360"/>
            <a:ext cx="649224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23" name="Text 21"/>
          <p:cNvSpPr/>
          <p:nvPr/>
        </p:nvSpPr>
        <p:spPr>
          <a:xfrm>
            <a:off x="5120640" y="5330952"/>
            <a:ext cx="603504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pip install foundry-local-sdk openai numpy</a:t>
            </a:r>
            <a:endParaRPr lang="en-US" sz="1200" dirty="0"/>
          </a:p>
        </p:txBody>
      </p:sp>
      <p:sp>
        <p:nvSpPr>
          <p:cNvPr id="24" name="Text 22"/>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25" name="Text 23"/>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Kod İncelemesi: Doküman İşleme (ingest.py)</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Dokümanları paragraflara böler, embedding'e çevirir, SQLite'a kaydeder</a:t>
            </a:r>
            <a:endParaRPr lang="en-US" sz="1350" dirty="0"/>
          </a:p>
        </p:txBody>
      </p:sp>
      <p:sp>
        <p:nvSpPr>
          <p:cNvPr id="4" name="Shape 2"/>
          <p:cNvSpPr/>
          <p:nvPr/>
        </p:nvSpPr>
        <p:spPr>
          <a:xfrm>
            <a:off x="822960" y="1371600"/>
            <a:ext cx="10561320" cy="3794760"/>
          </a:xfrm>
          <a:prstGeom prst="roundRect">
            <a:avLst>
              <a:gd name="adj" fmla="val 1928"/>
            </a:avLst>
          </a:prstGeom>
          <a:solidFill>
            <a:srgbClr val="0F172A"/>
          </a:solidFill>
          <a:ln w="12700">
            <a:solidFill>
              <a:srgbClr val="1E293B"/>
            </a:solidFill>
            <a:prstDash val="solid"/>
          </a:ln>
        </p:spPr>
        <p:txBody>
          <a:bodyPr/>
          <a:lstStyle/>
          <a:p>
            <a:endParaRPr lang="en-US"/>
          </a:p>
        </p:txBody>
      </p:sp>
      <p:sp>
        <p:nvSpPr>
          <p:cNvPr id="5" name="Text 3"/>
          <p:cNvSpPr/>
          <p:nvPr/>
        </p:nvSpPr>
        <p:spPr>
          <a:xfrm>
            <a:off x="1051560" y="1536192"/>
            <a:ext cx="10104120" cy="3465576"/>
          </a:xfrm>
          <a:prstGeom prst="rect">
            <a:avLst/>
          </a:prstGeom>
          <a:noFill/>
          <a:ln/>
        </p:spPr>
        <p:txBody>
          <a:bodyPr wrap="square" rtlCol="0" anchor="t"/>
          <a:lstStyle/>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for filename in os.listdir(DOCS_FOLDER):</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with open(filepath, "r", encoding="utf-8") as f:</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text = f.read()</a:t>
            </a:r>
            <a:endParaRPr lang="en-US" sz="1150" dirty="0"/>
          </a:p>
          <a:p>
            <a:pPr marL="0" indent="0">
              <a:lnSpc>
                <a:spcPct val="115000"/>
              </a:lnSpc>
              <a:buNone/>
            </a:pP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 Paragraflara böl (boş satırla ayrılmış bloklar)</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chunks = [c.strip() for c in text.split("\n\n") if c.strip()]</a:t>
            </a:r>
            <a:endParaRPr lang="en-US" sz="1150" dirty="0"/>
          </a:p>
          <a:p>
            <a:pPr marL="0" indent="0">
              <a:lnSpc>
                <a:spcPct val="115000"/>
              </a:lnSpc>
              <a:buNone/>
            </a:pP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for chunk in chunks:</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result = embedding_client.generate_embedding(chunk)</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embedding_vector = result.data[0].embedding</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embedding_json = json.dumps(embedding_vector)</a:t>
            </a:r>
            <a:endParaRPr lang="en-US" sz="1150" dirty="0"/>
          </a:p>
          <a:p>
            <a:pPr marL="0" indent="0">
              <a:lnSpc>
                <a:spcPct val="115000"/>
              </a:lnSpc>
              <a:buNone/>
            </a:pP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cursor.execute(</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"INSERT INTO documents (source, content, embedding)</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VALUES (?, ?, ?)",</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(filename, chunk, embedding_json)</a:t>
            </a:r>
            <a:endParaRPr lang="en-US" sz="1150" dirty="0"/>
          </a:p>
          <a:p>
            <a:pPr marL="0" indent="0">
              <a:lnSpc>
                <a:spcPct val="115000"/>
              </a:lnSpc>
              <a:buNone/>
            </a:pPr>
            <a:r>
              <a:rPr lang="en-US" sz="1150" dirty="0">
                <a:solidFill>
                  <a:srgbClr val="E2E8F0"/>
                </a:solidFill>
                <a:latin typeface="Consolas" pitchFamily="34" charset="0"/>
                <a:ea typeface="Consolas" pitchFamily="34" charset="-122"/>
                <a:cs typeface="Consolas" pitchFamily="34" charset="-120"/>
              </a:rPr>
              <a:t>        )</a:t>
            </a:r>
            <a:endParaRPr lang="en-US" sz="1150" dirty="0"/>
          </a:p>
        </p:txBody>
      </p:sp>
      <p:sp>
        <p:nvSpPr>
          <p:cNvPr id="6" name="Shape 4"/>
          <p:cNvSpPr/>
          <p:nvPr/>
        </p:nvSpPr>
        <p:spPr>
          <a:xfrm>
            <a:off x="822960" y="5349240"/>
            <a:ext cx="10561320" cy="868680"/>
          </a:xfrm>
          <a:prstGeom prst="roundRect">
            <a:avLst>
              <a:gd name="adj" fmla="val 10526"/>
            </a:avLst>
          </a:prstGeom>
          <a:solidFill>
            <a:srgbClr val="141F35"/>
          </a:solidFill>
          <a:ln/>
        </p:spPr>
        <p:txBody>
          <a:bodyPr/>
          <a:lstStyle/>
          <a:p>
            <a:endParaRPr lang="en-US"/>
          </a:p>
        </p:txBody>
      </p:sp>
      <p:sp>
        <p:nvSpPr>
          <p:cNvPr id="7" name="Text 5"/>
          <p:cNvSpPr/>
          <p:nvPr/>
        </p:nvSpPr>
        <p:spPr>
          <a:xfrm>
            <a:off x="1097280" y="5349240"/>
            <a:ext cx="10058400" cy="868680"/>
          </a:xfrm>
          <a:prstGeom prst="rect">
            <a:avLst/>
          </a:prstGeom>
          <a:noFill/>
          <a:ln/>
        </p:spPr>
        <p:txBody>
          <a:bodyPr wrap="square"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Sonuç: 8 doküman → 57 parça, her biri embedding vektörüyle birlikte knowledge.db içinde saklanıyor.</a:t>
            </a:r>
            <a:endParaRPr lang="en-US" sz="1300" dirty="0"/>
          </a:p>
        </p:txBody>
      </p:sp>
      <p:sp>
        <p:nvSpPr>
          <p:cNvPr id="8" name="Text 6"/>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Kod İncelemesi: Vektör Arama (Kosinüs Benzerliği)</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İki embedding vektörünün anlamsal yakınlığını ölçer</a:t>
            </a:r>
            <a:endParaRPr lang="en-US" sz="1350" dirty="0"/>
          </a:p>
        </p:txBody>
      </p:sp>
      <p:sp>
        <p:nvSpPr>
          <p:cNvPr id="4" name="Shape 2"/>
          <p:cNvSpPr/>
          <p:nvPr/>
        </p:nvSpPr>
        <p:spPr>
          <a:xfrm>
            <a:off x="822960" y="1417320"/>
            <a:ext cx="10561320" cy="1965960"/>
          </a:xfrm>
          <a:prstGeom prst="roundRect">
            <a:avLst>
              <a:gd name="adj" fmla="val 3721"/>
            </a:avLst>
          </a:prstGeom>
          <a:solidFill>
            <a:srgbClr val="0F172A"/>
          </a:solidFill>
          <a:ln w="12700">
            <a:solidFill>
              <a:srgbClr val="1E293B"/>
            </a:solidFill>
            <a:prstDash val="solid"/>
          </a:ln>
        </p:spPr>
        <p:txBody>
          <a:bodyPr/>
          <a:lstStyle/>
          <a:p>
            <a:endParaRPr lang="en-US"/>
          </a:p>
        </p:txBody>
      </p:sp>
      <p:sp>
        <p:nvSpPr>
          <p:cNvPr id="5" name="Text 3"/>
          <p:cNvSpPr/>
          <p:nvPr/>
        </p:nvSpPr>
        <p:spPr>
          <a:xfrm>
            <a:off x="1051560" y="1581912"/>
            <a:ext cx="10104120" cy="1636776"/>
          </a:xfrm>
          <a:prstGeom prst="rect">
            <a:avLst/>
          </a:prstGeom>
          <a:noFill/>
          <a:ln/>
        </p:spPr>
        <p:txBody>
          <a:bodyPr wrap="square" rtlCol="0" anchor="t"/>
          <a:lstStyle/>
          <a:p>
            <a:pPr marL="0" indent="0">
              <a:lnSpc>
                <a:spcPct val="115000"/>
              </a:lnSpc>
              <a:buNone/>
            </a:pPr>
            <a:r>
              <a:rPr lang="en-US" sz="1400" dirty="0">
                <a:solidFill>
                  <a:srgbClr val="E2E8F0"/>
                </a:solidFill>
                <a:latin typeface="Consolas" pitchFamily="34" charset="0"/>
                <a:ea typeface="Consolas" pitchFamily="34" charset="-122"/>
                <a:cs typeface="Consolas" pitchFamily="34" charset="-120"/>
              </a:rPr>
              <a:t>def cosine_similarity(vec1, vec2):</a:t>
            </a:r>
            <a:endParaRPr lang="en-US" sz="1400" dirty="0"/>
          </a:p>
          <a:p>
            <a:pPr marL="0" indent="0">
              <a:lnSpc>
                <a:spcPct val="115000"/>
              </a:lnSpc>
              <a:buNone/>
            </a:pPr>
            <a:r>
              <a:rPr lang="en-US" sz="1400" dirty="0">
                <a:solidFill>
                  <a:srgbClr val="E2E8F0"/>
                </a:solidFill>
                <a:latin typeface="Consolas" pitchFamily="34" charset="0"/>
                <a:ea typeface="Consolas" pitchFamily="34" charset="-122"/>
                <a:cs typeface="Consolas" pitchFamily="34" charset="-120"/>
              </a:rPr>
              <a:t>    vec1 = np.array(vec1)</a:t>
            </a:r>
            <a:endParaRPr lang="en-US" sz="1400" dirty="0"/>
          </a:p>
          <a:p>
            <a:pPr marL="0" indent="0">
              <a:lnSpc>
                <a:spcPct val="115000"/>
              </a:lnSpc>
              <a:buNone/>
            </a:pPr>
            <a:r>
              <a:rPr lang="en-US" sz="1400" dirty="0">
                <a:solidFill>
                  <a:srgbClr val="E2E8F0"/>
                </a:solidFill>
                <a:latin typeface="Consolas" pitchFamily="34" charset="0"/>
                <a:ea typeface="Consolas" pitchFamily="34" charset="-122"/>
                <a:cs typeface="Consolas" pitchFamily="34" charset="-120"/>
              </a:rPr>
              <a:t>    vec2 = np.array(vec2)</a:t>
            </a:r>
            <a:endParaRPr lang="en-US" sz="1400" dirty="0"/>
          </a:p>
          <a:p>
            <a:pPr marL="0" indent="0">
              <a:lnSpc>
                <a:spcPct val="115000"/>
              </a:lnSpc>
              <a:buNone/>
            </a:pPr>
            <a:r>
              <a:rPr lang="en-US" sz="1400" dirty="0">
                <a:solidFill>
                  <a:srgbClr val="E2E8F0"/>
                </a:solidFill>
                <a:latin typeface="Consolas" pitchFamily="34" charset="0"/>
                <a:ea typeface="Consolas" pitchFamily="34" charset="-122"/>
                <a:cs typeface="Consolas" pitchFamily="34" charset="-120"/>
              </a:rPr>
              <a:t>    return np.dot(vec1, vec2) / (</a:t>
            </a:r>
            <a:endParaRPr lang="en-US" sz="1400" dirty="0"/>
          </a:p>
          <a:p>
            <a:pPr marL="0" indent="0">
              <a:lnSpc>
                <a:spcPct val="115000"/>
              </a:lnSpc>
              <a:buNone/>
            </a:pPr>
            <a:r>
              <a:rPr lang="en-US" sz="1400" dirty="0">
                <a:solidFill>
                  <a:srgbClr val="E2E8F0"/>
                </a:solidFill>
                <a:latin typeface="Consolas" pitchFamily="34" charset="0"/>
                <a:ea typeface="Consolas" pitchFamily="34" charset="-122"/>
                <a:cs typeface="Consolas" pitchFamily="34" charset="-120"/>
              </a:rPr>
              <a:t>        np.linalg.norm(vec1) * np.linalg.norm(vec2)</a:t>
            </a:r>
            <a:endParaRPr lang="en-US" sz="1400" dirty="0"/>
          </a:p>
          <a:p>
            <a:pPr marL="0" indent="0">
              <a:lnSpc>
                <a:spcPct val="115000"/>
              </a:lnSpc>
              <a:buNone/>
            </a:pPr>
            <a:r>
              <a:rPr lang="en-US" sz="1400" dirty="0">
                <a:solidFill>
                  <a:srgbClr val="E2E8F0"/>
                </a:solidFill>
                <a:latin typeface="Consolas" pitchFamily="34" charset="0"/>
                <a:ea typeface="Consolas" pitchFamily="34" charset="-122"/>
                <a:cs typeface="Consolas" pitchFamily="34" charset="-120"/>
              </a:rPr>
              <a:t>    )</a:t>
            </a:r>
            <a:endParaRPr lang="en-US" sz="1400" dirty="0"/>
          </a:p>
        </p:txBody>
      </p:sp>
      <p:sp>
        <p:nvSpPr>
          <p:cNvPr id="6" name="Shape 4"/>
          <p:cNvSpPr/>
          <p:nvPr/>
        </p:nvSpPr>
        <p:spPr>
          <a:xfrm>
            <a:off x="822960" y="3703320"/>
            <a:ext cx="3383280" cy="1234440"/>
          </a:xfrm>
          <a:prstGeom prst="roundRect">
            <a:avLst>
              <a:gd name="adj" fmla="val 7407"/>
            </a:avLst>
          </a:prstGeom>
          <a:solidFill>
            <a:srgbClr val="141F35"/>
          </a:solidFill>
          <a:ln/>
        </p:spPr>
        <p:txBody>
          <a:bodyPr/>
          <a:lstStyle/>
          <a:p>
            <a:endParaRPr lang="en-US"/>
          </a:p>
        </p:txBody>
      </p:sp>
      <p:sp>
        <p:nvSpPr>
          <p:cNvPr id="7" name="Text 5"/>
          <p:cNvSpPr/>
          <p:nvPr/>
        </p:nvSpPr>
        <p:spPr>
          <a:xfrm>
            <a:off x="1051560" y="3840480"/>
            <a:ext cx="2926080" cy="365760"/>
          </a:xfrm>
          <a:prstGeom prst="rect">
            <a:avLst/>
          </a:prstGeom>
          <a:noFill/>
          <a:ln/>
        </p:spPr>
        <p:txBody>
          <a:bodyPr wrap="square" rtlCol="0" anchor="ctr"/>
          <a:lstStyle/>
          <a:p>
            <a:pPr marL="0" indent="0">
              <a:buNone/>
            </a:pPr>
            <a:r>
              <a:rPr lang="en-US" sz="1400" b="1" dirty="0">
                <a:solidFill>
                  <a:srgbClr val="4ADE80"/>
                </a:solidFill>
                <a:latin typeface="Calibri" pitchFamily="34" charset="0"/>
                <a:ea typeface="Calibri" pitchFamily="34" charset="-122"/>
                <a:cs typeface="Calibri" pitchFamily="34" charset="-120"/>
              </a:rPr>
              <a:t>1.0'a yakın</a:t>
            </a:r>
            <a:endParaRPr lang="en-US" sz="1400" dirty="0"/>
          </a:p>
        </p:txBody>
      </p:sp>
      <p:sp>
        <p:nvSpPr>
          <p:cNvPr id="8" name="Text 6"/>
          <p:cNvSpPr/>
          <p:nvPr/>
        </p:nvSpPr>
        <p:spPr>
          <a:xfrm>
            <a:off x="1051560" y="4224528"/>
            <a:ext cx="2926080" cy="5943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Vektörler neredeyse aynı yönde → çok benzer</a:t>
            </a:r>
            <a:endParaRPr lang="en-US" sz="1150" dirty="0"/>
          </a:p>
        </p:txBody>
      </p:sp>
      <p:sp>
        <p:nvSpPr>
          <p:cNvPr id="9" name="Shape 7"/>
          <p:cNvSpPr/>
          <p:nvPr/>
        </p:nvSpPr>
        <p:spPr>
          <a:xfrm>
            <a:off x="4434840" y="3703320"/>
            <a:ext cx="3383280" cy="1234440"/>
          </a:xfrm>
          <a:prstGeom prst="roundRect">
            <a:avLst>
              <a:gd name="adj" fmla="val 7407"/>
            </a:avLst>
          </a:prstGeom>
          <a:solidFill>
            <a:srgbClr val="141F35"/>
          </a:solidFill>
          <a:ln/>
        </p:spPr>
        <p:txBody>
          <a:bodyPr/>
          <a:lstStyle/>
          <a:p>
            <a:endParaRPr lang="en-US"/>
          </a:p>
        </p:txBody>
      </p:sp>
      <p:sp>
        <p:nvSpPr>
          <p:cNvPr id="10" name="Text 8"/>
          <p:cNvSpPr/>
          <p:nvPr/>
        </p:nvSpPr>
        <p:spPr>
          <a:xfrm>
            <a:off x="4663440" y="3840480"/>
            <a:ext cx="2926080" cy="365760"/>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0'a yakın</a:t>
            </a:r>
            <a:endParaRPr lang="en-US" sz="1400" dirty="0"/>
          </a:p>
        </p:txBody>
      </p:sp>
      <p:sp>
        <p:nvSpPr>
          <p:cNvPr id="11" name="Text 9"/>
          <p:cNvSpPr/>
          <p:nvPr/>
        </p:nvSpPr>
        <p:spPr>
          <a:xfrm>
            <a:off x="4663440" y="4224528"/>
            <a:ext cx="2926080" cy="5943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Vektörler birbirine dik → alakasız</a:t>
            </a:r>
            <a:endParaRPr lang="en-US" sz="1150" dirty="0"/>
          </a:p>
        </p:txBody>
      </p:sp>
      <p:sp>
        <p:nvSpPr>
          <p:cNvPr id="12" name="Shape 10"/>
          <p:cNvSpPr/>
          <p:nvPr/>
        </p:nvSpPr>
        <p:spPr>
          <a:xfrm>
            <a:off x="8046720" y="3703320"/>
            <a:ext cx="3383280" cy="1234440"/>
          </a:xfrm>
          <a:prstGeom prst="roundRect">
            <a:avLst>
              <a:gd name="adj" fmla="val 7407"/>
            </a:avLst>
          </a:prstGeom>
          <a:solidFill>
            <a:srgbClr val="141F35"/>
          </a:solidFill>
          <a:ln/>
        </p:spPr>
        <p:txBody>
          <a:bodyPr/>
          <a:lstStyle/>
          <a:p>
            <a:endParaRPr lang="en-US"/>
          </a:p>
        </p:txBody>
      </p:sp>
      <p:sp>
        <p:nvSpPr>
          <p:cNvPr id="13" name="Text 11"/>
          <p:cNvSpPr/>
          <p:nvPr/>
        </p:nvSpPr>
        <p:spPr>
          <a:xfrm>
            <a:off x="8275320" y="3840480"/>
            <a:ext cx="2926080" cy="365760"/>
          </a:xfrm>
          <a:prstGeom prst="rect">
            <a:avLst/>
          </a:prstGeom>
          <a:noFill/>
          <a:ln/>
        </p:spPr>
        <p:txBody>
          <a:bodyPr wrap="square"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-1'e yakın</a:t>
            </a:r>
            <a:endParaRPr lang="en-US" sz="1400" dirty="0"/>
          </a:p>
        </p:txBody>
      </p:sp>
      <p:sp>
        <p:nvSpPr>
          <p:cNvPr id="14" name="Text 12"/>
          <p:cNvSpPr/>
          <p:nvPr/>
        </p:nvSpPr>
        <p:spPr>
          <a:xfrm>
            <a:off x="8275320" y="4224528"/>
            <a:ext cx="2926080" cy="59436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Vektörler zıt yönlerde → tamamen farklı</a:t>
            </a:r>
            <a:endParaRPr lang="en-US" sz="1150" dirty="0"/>
          </a:p>
        </p:txBody>
      </p:sp>
      <p:sp>
        <p:nvSpPr>
          <p:cNvPr id="15" name="Shape 13"/>
          <p:cNvSpPr/>
          <p:nvPr/>
        </p:nvSpPr>
        <p:spPr>
          <a:xfrm>
            <a:off x="822960" y="5166360"/>
            <a:ext cx="10561320" cy="960120"/>
          </a:xfrm>
          <a:prstGeom prst="roundRect">
            <a:avLst>
              <a:gd name="adj" fmla="val 9524"/>
            </a:avLst>
          </a:prstGeom>
          <a:solidFill>
            <a:srgbClr val="111827"/>
          </a:solidFill>
          <a:ln w="12700">
            <a:solidFill>
              <a:srgbClr val="2DD4BF"/>
            </a:solidFill>
            <a:prstDash val="solid"/>
          </a:ln>
        </p:spPr>
        <p:txBody>
          <a:bodyPr/>
          <a:lstStyle/>
          <a:p>
            <a:endParaRPr lang="en-US"/>
          </a:p>
        </p:txBody>
      </p:sp>
      <p:sp>
        <p:nvSpPr>
          <p:cNvPr id="16" name="Text 14"/>
          <p:cNvSpPr/>
          <p:nvPr/>
        </p:nvSpPr>
        <p:spPr>
          <a:xfrm>
            <a:off x="1097280" y="5166360"/>
            <a:ext cx="10058400" cy="960120"/>
          </a:xfrm>
          <a:prstGeom prst="rect">
            <a:avLst/>
          </a:prstGeom>
          <a:noFill/>
          <a:ln/>
        </p:spPr>
        <p:txBody>
          <a:bodyPr wrap="square" rtlCol="0" anchor="ctr"/>
          <a:lstStyle/>
          <a:p>
            <a:pPr marL="0" indent="0" algn="ctr">
              <a:buNone/>
            </a:pPr>
            <a:r>
              <a:rPr lang="en-US" sz="1300" dirty="0">
                <a:solidFill>
                  <a:srgbClr val="2DD4BF"/>
                </a:solidFill>
                <a:latin typeface="Calibri" pitchFamily="34" charset="0"/>
                <a:ea typeface="Calibri" pitchFamily="34" charset="-122"/>
                <a:cs typeface="Calibri" pitchFamily="34" charset="-120"/>
              </a:rPr>
              <a:t>Projede kullanımı: soru embedding'i, veritabanındaki 57 embedding ile tek tek karşılaştırılır; en yüksek 3 skor seçilir.</a:t>
            </a:r>
            <a:endParaRPr lang="en-US" sz="1300" dirty="0"/>
          </a:p>
        </p:txBody>
      </p:sp>
      <p:sp>
        <p:nvSpPr>
          <p:cNvPr id="17" name="Text 15"/>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18" name="Text 16"/>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Kod İncelemesi: Cevap Üretme ve Güvenlik Katmanı (app.py)</a:t>
            </a:r>
            <a:endParaRPr lang="en-US" sz="2700" dirty="0"/>
          </a:p>
        </p:txBody>
      </p:sp>
      <p:sp>
        <p:nvSpPr>
          <p:cNvPr id="3" name="Shape 1"/>
          <p:cNvSpPr/>
          <p:nvPr/>
        </p:nvSpPr>
        <p:spPr>
          <a:xfrm>
            <a:off x="822960" y="1280160"/>
            <a:ext cx="10561320" cy="5074920"/>
          </a:xfrm>
          <a:prstGeom prst="roundRect">
            <a:avLst>
              <a:gd name="adj" fmla="val 1441"/>
            </a:avLst>
          </a:prstGeom>
          <a:solidFill>
            <a:srgbClr val="0F172A"/>
          </a:solidFill>
          <a:ln w="12700">
            <a:solidFill>
              <a:srgbClr val="1E293B"/>
            </a:solidFill>
            <a:prstDash val="solid"/>
          </a:ln>
        </p:spPr>
        <p:txBody>
          <a:bodyPr/>
          <a:lstStyle/>
          <a:p>
            <a:endParaRPr lang="en-US"/>
          </a:p>
        </p:txBody>
      </p:sp>
      <p:sp>
        <p:nvSpPr>
          <p:cNvPr id="4" name="Text 2"/>
          <p:cNvSpPr/>
          <p:nvPr/>
        </p:nvSpPr>
        <p:spPr>
          <a:xfrm>
            <a:off x="1051560" y="1444752"/>
            <a:ext cx="10104120" cy="4745736"/>
          </a:xfrm>
          <a:prstGeom prst="rect">
            <a:avLst/>
          </a:prstGeom>
          <a:noFill/>
          <a:ln/>
        </p:spPr>
        <p:txBody>
          <a:bodyPr wrap="square" rtlCol="0" anchor="t"/>
          <a:lstStyle/>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def answer_query(query):</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top_chunks = get_top_chunks(query, top_k=3)</a:t>
            </a:r>
            <a:endParaRPr lang="en-US" sz="1050" dirty="0"/>
          </a:p>
          <a:p>
            <a:pPr marL="0" indent="0">
              <a:lnSpc>
                <a:spcPct val="115000"/>
              </a:lnSpc>
              <a:buNone/>
            </a:pP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 Güvenlik katmanı: skor çok düşükse modeli çağırma</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best_score = top_chunks[0][0]</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if best_score &lt; 0.55:</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return "Bu konuda elimde bilgi yok.", top_chunks</a:t>
            </a:r>
            <a:endParaRPr lang="en-US" sz="1050" dirty="0"/>
          </a:p>
          <a:p>
            <a:pPr marL="0" indent="0">
              <a:lnSpc>
                <a:spcPct val="115000"/>
              </a:lnSpc>
              <a:buNone/>
            </a:pP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context = "\n\n".join(</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[f"[Kaynak: {source}]\n{content}"</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for score, source, content in top_chunks]</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marL="0" indent="0">
              <a:lnSpc>
                <a:spcPct val="115000"/>
              </a:lnSpc>
              <a:buNone/>
            </a:pP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system_prompt = (</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"SADECE sana verilen bağlamı kullanarak cevap ver. "</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"Bağlamda cevap yoksa UYDURMA, 'bilgim yok' de."</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marL="0" indent="0">
              <a:lnSpc>
                <a:spcPct val="115000"/>
              </a:lnSpc>
              <a:buNone/>
            </a:pP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response = chat_client.complete_chat([</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{"role": "system", "content": system_prompt},</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{"role": "user", "content": f"Bağlam:\n{context}\n\nSoru: {query}"}</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a:t>
            </a:r>
            <a:endParaRPr lang="en-US" sz="1050" dirty="0"/>
          </a:p>
          <a:p>
            <a:pPr marL="0" indent="0">
              <a:lnSpc>
                <a:spcPct val="115000"/>
              </a:lnSpc>
              <a:buNone/>
            </a:pPr>
            <a:r>
              <a:rPr lang="en-US" sz="1050" dirty="0">
                <a:solidFill>
                  <a:srgbClr val="E2E8F0"/>
                </a:solidFill>
                <a:latin typeface="Consolas" pitchFamily="34" charset="0"/>
                <a:ea typeface="Consolas" pitchFamily="34" charset="-122"/>
                <a:cs typeface="Consolas" pitchFamily="34" charset="-120"/>
              </a:rPr>
              <a:t>    return response.choices[0].message.content, top_chunks</a:t>
            </a:r>
            <a:endParaRPr lang="en-US" sz="1050" dirty="0"/>
          </a:p>
        </p:txBody>
      </p:sp>
      <p:sp>
        <p:nvSpPr>
          <p:cNvPr id="5" name="Text 3"/>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6" name="Text 4"/>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Nasıl Çalıştırılır</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Kurulumdan sonra izlenecek adımlar</a:t>
            </a:r>
            <a:endParaRPr lang="en-US" sz="1350" dirty="0"/>
          </a:p>
        </p:txBody>
      </p:sp>
      <p:sp>
        <p:nvSpPr>
          <p:cNvPr id="4" name="Shape 2"/>
          <p:cNvSpPr/>
          <p:nvPr/>
        </p:nvSpPr>
        <p:spPr>
          <a:xfrm>
            <a:off x="822960" y="1554480"/>
            <a:ext cx="457200" cy="457200"/>
          </a:xfrm>
          <a:prstGeom prst="ellipse">
            <a:avLst/>
          </a:prstGeom>
          <a:solidFill>
            <a:srgbClr val="4ADE80">
              <a:alpha val="85000"/>
            </a:srgbClr>
          </a:solidFill>
          <a:ln/>
        </p:spPr>
        <p:txBody>
          <a:bodyPr/>
          <a:lstStyle/>
          <a:p>
            <a:endParaRPr lang="en-US"/>
          </a:p>
        </p:txBody>
      </p:sp>
      <p:sp>
        <p:nvSpPr>
          <p:cNvPr id="5" name="Text 3"/>
          <p:cNvSpPr/>
          <p:nvPr/>
        </p:nvSpPr>
        <p:spPr>
          <a:xfrm>
            <a:off x="822960" y="155448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463040" y="1463040"/>
            <a:ext cx="3566160" cy="10972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Foundry Local servisinin çalıştığını kontrol et</a:t>
            </a:r>
            <a:endParaRPr lang="en-US" sz="1250" dirty="0"/>
          </a:p>
        </p:txBody>
      </p:sp>
      <p:sp>
        <p:nvSpPr>
          <p:cNvPr id="7" name="Shape 5"/>
          <p:cNvSpPr/>
          <p:nvPr/>
        </p:nvSpPr>
        <p:spPr>
          <a:xfrm>
            <a:off x="5166360" y="1463040"/>
            <a:ext cx="621792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8" name="Text 6"/>
          <p:cNvSpPr/>
          <p:nvPr/>
        </p:nvSpPr>
        <p:spPr>
          <a:xfrm>
            <a:off x="5394960" y="1627632"/>
            <a:ext cx="576072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foundry service status</a:t>
            </a:r>
            <a:endParaRPr lang="en-US" sz="1200" dirty="0"/>
          </a:p>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foundry service start   (gerekirse)</a:t>
            </a:r>
            <a:endParaRPr lang="en-US" sz="1200" dirty="0"/>
          </a:p>
        </p:txBody>
      </p:sp>
      <p:sp>
        <p:nvSpPr>
          <p:cNvPr id="9" name="Shape 7"/>
          <p:cNvSpPr/>
          <p:nvPr/>
        </p:nvSpPr>
        <p:spPr>
          <a:xfrm>
            <a:off x="822960" y="2788920"/>
            <a:ext cx="457200" cy="457200"/>
          </a:xfrm>
          <a:prstGeom prst="ellipse">
            <a:avLst/>
          </a:prstGeom>
          <a:solidFill>
            <a:srgbClr val="4ADE80">
              <a:alpha val="85000"/>
            </a:srgbClr>
          </a:solidFill>
          <a:ln/>
        </p:spPr>
        <p:txBody>
          <a:bodyPr/>
          <a:lstStyle/>
          <a:p>
            <a:endParaRPr lang="en-US"/>
          </a:p>
        </p:txBody>
      </p:sp>
      <p:sp>
        <p:nvSpPr>
          <p:cNvPr id="10" name="Text 8"/>
          <p:cNvSpPr/>
          <p:nvPr/>
        </p:nvSpPr>
        <p:spPr>
          <a:xfrm>
            <a:off x="822960" y="278892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463040" y="2697480"/>
            <a:ext cx="3566160" cy="10972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Dokümanları veritabanına işle (sadece ilk sefer / dokümanlar değişince)</a:t>
            </a:r>
            <a:endParaRPr lang="en-US" sz="1250" dirty="0"/>
          </a:p>
        </p:txBody>
      </p:sp>
      <p:sp>
        <p:nvSpPr>
          <p:cNvPr id="12" name="Shape 10"/>
          <p:cNvSpPr/>
          <p:nvPr/>
        </p:nvSpPr>
        <p:spPr>
          <a:xfrm>
            <a:off x="5166360" y="2697480"/>
            <a:ext cx="621792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13" name="Text 11"/>
          <p:cNvSpPr/>
          <p:nvPr/>
        </p:nvSpPr>
        <p:spPr>
          <a:xfrm>
            <a:off x="5394960" y="2862072"/>
            <a:ext cx="576072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python ingest.py</a:t>
            </a:r>
            <a:endParaRPr lang="en-US" sz="1200" dirty="0"/>
          </a:p>
        </p:txBody>
      </p:sp>
      <p:sp>
        <p:nvSpPr>
          <p:cNvPr id="14" name="Shape 12"/>
          <p:cNvSpPr/>
          <p:nvPr/>
        </p:nvSpPr>
        <p:spPr>
          <a:xfrm>
            <a:off x="822960" y="4023360"/>
            <a:ext cx="457200" cy="457200"/>
          </a:xfrm>
          <a:prstGeom prst="ellipse">
            <a:avLst/>
          </a:prstGeom>
          <a:solidFill>
            <a:srgbClr val="4ADE80">
              <a:alpha val="85000"/>
            </a:srgbClr>
          </a:solidFill>
          <a:ln/>
        </p:spPr>
        <p:txBody>
          <a:bodyPr/>
          <a:lstStyle/>
          <a:p>
            <a:endParaRPr lang="en-US"/>
          </a:p>
        </p:txBody>
      </p:sp>
      <p:sp>
        <p:nvSpPr>
          <p:cNvPr id="15" name="Text 13"/>
          <p:cNvSpPr/>
          <p:nvPr/>
        </p:nvSpPr>
        <p:spPr>
          <a:xfrm>
            <a:off x="822960" y="402336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931920"/>
            <a:ext cx="3566160" cy="10972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Asistanı başlat</a:t>
            </a:r>
            <a:endParaRPr lang="en-US" sz="1250" dirty="0"/>
          </a:p>
        </p:txBody>
      </p:sp>
      <p:sp>
        <p:nvSpPr>
          <p:cNvPr id="17" name="Shape 15"/>
          <p:cNvSpPr/>
          <p:nvPr/>
        </p:nvSpPr>
        <p:spPr>
          <a:xfrm>
            <a:off x="5166360" y="3931920"/>
            <a:ext cx="621792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18" name="Text 16"/>
          <p:cNvSpPr/>
          <p:nvPr/>
        </p:nvSpPr>
        <p:spPr>
          <a:xfrm>
            <a:off x="5394960" y="4096512"/>
            <a:ext cx="576072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python app.py</a:t>
            </a:r>
            <a:endParaRPr lang="en-US" sz="1200" dirty="0"/>
          </a:p>
        </p:txBody>
      </p:sp>
      <p:sp>
        <p:nvSpPr>
          <p:cNvPr id="19" name="Shape 17"/>
          <p:cNvSpPr/>
          <p:nvPr/>
        </p:nvSpPr>
        <p:spPr>
          <a:xfrm>
            <a:off x="822960" y="5257800"/>
            <a:ext cx="457200" cy="457200"/>
          </a:xfrm>
          <a:prstGeom prst="ellipse">
            <a:avLst/>
          </a:prstGeom>
          <a:solidFill>
            <a:srgbClr val="4ADE80">
              <a:alpha val="85000"/>
            </a:srgbClr>
          </a:solidFill>
          <a:ln/>
        </p:spPr>
        <p:txBody>
          <a:bodyPr/>
          <a:lstStyle/>
          <a:p>
            <a:endParaRPr lang="en-US"/>
          </a:p>
        </p:txBody>
      </p:sp>
      <p:sp>
        <p:nvSpPr>
          <p:cNvPr id="20" name="Text 18"/>
          <p:cNvSpPr/>
          <p:nvPr/>
        </p:nvSpPr>
        <p:spPr>
          <a:xfrm>
            <a:off x="822960" y="5257800"/>
            <a:ext cx="457200" cy="457200"/>
          </a:xfrm>
          <a:prstGeom prst="rect">
            <a:avLst/>
          </a:prstGeom>
          <a:noFill/>
          <a:ln/>
        </p:spPr>
        <p:txBody>
          <a:bodyPr wrap="square" rtlCol="0" anchor="ctr"/>
          <a:lstStyle/>
          <a:p>
            <a:pPr marL="0" indent="0" algn="ctr">
              <a:buNone/>
            </a:pPr>
            <a:r>
              <a:rPr lang="en-US" sz="1800" b="1" dirty="0">
                <a:solidFill>
                  <a:srgbClr val="0B1220"/>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1463040" y="5166360"/>
            <a:ext cx="3566160" cy="10972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Sorularını yaz, çıkmak için:</a:t>
            </a:r>
            <a:endParaRPr lang="en-US" sz="1250" dirty="0"/>
          </a:p>
        </p:txBody>
      </p:sp>
      <p:sp>
        <p:nvSpPr>
          <p:cNvPr id="22" name="Shape 20"/>
          <p:cNvSpPr/>
          <p:nvPr/>
        </p:nvSpPr>
        <p:spPr>
          <a:xfrm>
            <a:off x="5166360" y="5166360"/>
            <a:ext cx="6217920" cy="1051560"/>
          </a:xfrm>
          <a:prstGeom prst="roundRect">
            <a:avLst>
              <a:gd name="adj" fmla="val 6957"/>
            </a:avLst>
          </a:prstGeom>
          <a:solidFill>
            <a:srgbClr val="0F172A"/>
          </a:solidFill>
          <a:ln w="12700">
            <a:solidFill>
              <a:srgbClr val="1E293B"/>
            </a:solidFill>
            <a:prstDash val="solid"/>
          </a:ln>
        </p:spPr>
        <p:txBody>
          <a:bodyPr/>
          <a:lstStyle/>
          <a:p>
            <a:endParaRPr lang="en-US"/>
          </a:p>
        </p:txBody>
      </p:sp>
      <p:sp>
        <p:nvSpPr>
          <p:cNvPr id="23" name="Text 21"/>
          <p:cNvSpPr/>
          <p:nvPr/>
        </p:nvSpPr>
        <p:spPr>
          <a:xfrm>
            <a:off x="5394960" y="5330952"/>
            <a:ext cx="5760720" cy="722376"/>
          </a:xfrm>
          <a:prstGeom prst="rect">
            <a:avLst/>
          </a:prstGeom>
          <a:noFill/>
          <a:ln/>
        </p:spPr>
        <p:txBody>
          <a:bodyPr wrap="square" rtlCol="0" anchor="t"/>
          <a:lstStyle/>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Soru: &lt;sorunuz&gt;</a:t>
            </a:r>
            <a:endParaRPr lang="en-US" sz="1200" dirty="0"/>
          </a:p>
          <a:p>
            <a:pPr marL="0" indent="0">
              <a:lnSpc>
                <a:spcPct val="115000"/>
              </a:lnSpc>
              <a:buNone/>
            </a:pPr>
            <a:r>
              <a:rPr lang="en-US" sz="1200" dirty="0">
                <a:solidFill>
                  <a:srgbClr val="E2E8F0"/>
                </a:solidFill>
                <a:latin typeface="Consolas" pitchFamily="34" charset="0"/>
                <a:ea typeface="Consolas" pitchFamily="34" charset="-122"/>
                <a:cs typeface="Consolas" pitchFamily="34" charset="-120"/>
              </a:rPr>
              <a:t>Soru: exit</a:t>
            </a:r>
            <a:endParaRPr lang="en-US" sz="1200" dirty="0"/>
          </a:p>
        </p:txBody>
      </p:sp>
      <p:sp>
        <p:nvSpPr>
          <p:cNvPr id="24" name="Text 22"/>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25" name="Text 23"/>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Canlı Örnek — Doğru Bilgiyle Cevap</a:t>
            </a:r>
            <a:endParaRPr lang="en-US" sz="2700" dirty="0"/>
          </a:p>
        </p:txBody>
      </p:sp>
      <p:sp>
        <p:nvSpPr>
          <p:cNvPr id="3" name="Shape 1"/>
          <p:cNvSpPr/>
          <p:nvPr/>
        </p:nvSpPr>
        <p:spPr>
          <a:xfrm>
            <a:off x="822960" y="1280160"/>
            <a:ext cx="10561320" cy="4709160"/>
          </a:xfrm>
          <a:prstGeom prst="roundRect">
            <a:avLst>
              <a:gd name="adj" fmla="val 2330"/>
            </a:avLst>
          </a:prstGeom>
          <a:solidFill>
            <a:srgbClr val="0F172A"/>
          </a:solidFill>
          <a:ln w="12700">
            <a:solidFill>
              <a:srgbClr val="1E293B"/>
            </a:solidFill>
            <a:prstDash val="solid"/>
          </a:ln>
        </p:spPr>
        <p:txBody>
          <a:bodyPr/>
          <a:lstStyle/>
          <a:p>
            <a:endParaRPr lang="en-US"/>
          </a:p>
        </p:txBody>
      </p:sp>
      <p:sp>
        <p:nvSpPr>
          <p:cNvPr id="4" name="Shape 2"/>
          <p:cNvSpPr/>
          <p:nvPr/>
        </p:nvSpPr>
        <p:spPr>
          <a:xfrm>
            <a:off x="1143000" y="1600200"/>
            <a:ext cx="9921240" cy="685800"/>
          </a:xfrm>
          <a:prstGeom prst="roundRect">
            <a:avLst>
              <a:gd name="adj" fmla="val 10667"/>
            </a:avLst>
          </a:prstGeom>
          <a:solidFill>
            <a:srgbClr val="141F35"/>
          </a:solidFill>
          <a:ln/>
        </p:spPr>
        <p:txBody>
          <a:bodyPr/>
          <a:lstStyle/>
          <a:p>
            <a:endParaRPr lang="en-US"/>
          </a:p>
        </p:txBody>
      </p:sp>
      <p:sp>
        <p:nvSpPr>
          <p:cNvPr id="5" name="Text 3"/>
          <p:cNvSpPr/>
          <p:nvPr/>
        </p:nvSpPr>
        <p:spPr>
          <a:xfrm>
            <a:off x="1371600" y="1600200"/>
            <a:ext cx="1097280" cy="685800"/>
          </a:xfrm>
          <a:prstGeom prst="rect">
            <a:avLst/>
          </a:prstGeom>
          <a:noFill/>
          <a:ln/>
        </p:spPr>
        <p:txBody>
          <a:bodyPr wrap="square" rtlCol="0" anchor="ctr"/>
          <a:lstStyle/>
          <a:p>
            <a:pPr marL="0" indent="0">
              <a:buNone/>
            </a:pPr>
            <a:r>
              <a:rPr lang="en-US" sz="1400" b="1" dirty="0">
                <a:solidFill>
                  <a:srgbClr val="2DD4BF"/>
                </a:solidFill>
                <a:latin typeface="Consolas" pitchFamily="34" charset="0"/>
                <a:ea typeface="Consolas" pitchFamily="34" charset="-122"/>
                <a:cs typeface="Consolas" pitchFamily="34" charset="-120"/>
              </a:rPr>
              <a:t>Soru:</a:t>
            </a:r>
            <a:endParaRPr lang="en-US" sz="1400" dirty="0"/>
          </a:p>
        </p:txBody>
      </p:sp>
      <p:sp>
        <p:nvSpPr>
          <p:cNvPr id="6" name="Text 4"/>
          <p:cNvSpPr/>
          <p:nvPr/>
        </p:nvSpPr>
        <p:spPr>
          <a:xfrm>
            <a:off x="2377440" y="1600200"/>
            <a:ext cx="8412480" cy="685800"/>
          </a:xfrm>
          <a:prstGeom prst="rect">
            <a:avLst/>
          </a:prstGeom>
          <a:noFill/>
          <a:ln/>
        </p:spPr>
        <p:txBody>
          <a:bodyPr wrap="square"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Prompt injection nedir?</a:t>
            </a:r>
            <a:endParaRPr lang="en-US" sz="1400" dirty="0"/>
          </a:p>
        </p:txBody>
      </p:sp>
      <p:sp>
        <p:nvSpPr>
          <p:cNvPr id="7" name="Shape 5"/>
          <p:cNvSpPr/>
          <p:nvPr/>
        </p:nvSpPr>
        <p:spPr>
          <a:xfrm>
            <a:off x="1143000" y="2468880"/>
            <a:ext cx="9921240" cy="1371600"/>
          </a:xfrm>
          <a:prstGeom prst="roundRect">
            <a:avLst>
              <a:gd name="adj" fmla="val 5333"/>
            </a:avLst>
          </a:prstGeom>
          <a:solidFill>
            <a:srgbClr val="141F35"/>
          </a:solidFill>
          <a:ln/>
        </p:spPr>
        <p:txBody>
          <a:bodyPr/>
          <a:lstStyle/>
          <a:p>
            <a:endParaRPr lang="en-US"/>
          </a:p>
        </p:txBody>
      </p:sp>
      <p:sp>
        <p:nvSpPr>
          <p:cNvPr id="8" name="Text 6"/>
          <p:cNvSpPr/>
          <p:nvPr/>
        </p:nvSpPr>
        <p:spPr>
          <a:xfrm>
            <a:off x="1371600" y="2606040"/>
            <a:ext cx="1371600" cy="365760"/>
          </a:xfrm>
          <a:prstGeom prst="rect">
            <a:avLst/>
          </a:prstGeom>
          <a:noFill/>
          <a:ln/>
        </p:spPr>
        <p:txBody>
          <a:bodyPr wrap="square" rtlCol="0" anchor="ctr"/>
          <a:lstStyle/>
          <a:p>
            <a:pPr marL="0" indent="0">
              <a:buNone/>
            </a:pPr>
            <a:r>
              <a:rPr lang="en-US" sz="1400" b="1" dirty="0">
                <a:solidFill>
                  <a:srgbClr val="4ADE80"/>
                </a:solidFill>
                <a:latin typeface="Consolas" pitchFamily="34" charset="0"/>
                <a:ea typeface="Consolas" pitchFamily="34" charset="-122"/>
                <a:cs typeface="Consolas" pitchFamily="34" charset="-120"/>
              </a:rPr>
              <a:t>Cevap:</a:t>
            </a:r>
            <a:endParaRPr lang="en-US" sz="1400" dirty="0"/>
          </a:p>
        </p:txBody>
      </p:sp>
      <p:sp>
        <p:nvSpPr>
          <p:cNvPr id="9" name="Text 7"/>
          <p:cNvSpPr/>
          <p:nvPr/>
        </p:nvSpPr>
        <p:spPr>
          <a:xfrm>
            <a:off x="1371600" y="2971800"/>
            <a:ext cx="9418320" cy="822960"/>
          </a:xfrm>
          <a:prstGeom prst="rect">
            <a:avLst/>
          </a:prstGeom>
          <a:noFill/>
          <a:ln/>
        </p:spPr>
        <p:txBody>
          <a:bodyPr wrap="square" rtlCol="0" anchor="ctr"/>
          <a:lstStyle/>
          <a:p>
            <a:pPr marL="0" indent="0">
              <a:lnSpc>
                <a:spcPct val="120000"/>
              </a:lnSpc>
              <a:buNone/>
            </a:pPr>
            <a:r>
              <a:rPr lang="en-US" sz="1250" dirty="0">
                <a:solidFill>
                  <a:srgbClr val="E2E8F0"/>
                </a:solidFill>
                <a:latin typeface="Consolas" pitchFamily="34" charset="0"/>
                <a:ea typeface="Consolas" pitchFamily="34" charset="-122"/>
                <a:cs typeface="Consolas" pitchFamily="34" charset="-120"/>
              </a:rPr>
              <a:t>Prompt injection, LLM tabanlı uygulamaları kötü niyetli talimatlarla manipüle etme saldırısıdır — model, gizlenmiş sahte komutları gerçek sanıp uygulayabilir.</a:t>
            </a:r>
            <a:endParaRPr lang="en-US" sz="1250" dirty="0"/>
          </a:p>
        </p:txBody>
      </p:sp>
      <p:sp>
        <p:nvSpPr>
          <p:cNvPr id="10" name="Shape 8"/>
          <p:cNvSpPr/>
          <p:nvPr/>
        </p:nvSpPr>
        <p:spPr>
          <a:xfrm>
            <a:off x="1143000" y="4023360"/>
            <a:ext cx="9921240" cy="1783080"/>
          </a:xfrm>
          <a:prstGeom prst="roundRect">
            <a:avLst>
              <a:gd name="adj" fmla="val 4103"/>
            </a:avLst>
          </a:prstGeom>
          <a:solidFill>
            <a:srgbClr val="111827"/>
          </a:solidFill>
          <a:ln w="9525">
            <a:solidFill>
              <a:srgbClr val="2DD4BF"/>
            </a:solidFill>
            <a:prstDash val="solid"/>
          </a:ln>
        </p:spPr>
        <p:txBody>
          <a:bodyPr/>
          <a:lstStyle/>
          <a:p>
            <a:endParaRPr lang="en-US"/>
          </a:p>
        </p:txBody>
      </p:sp>
      <p:sp>
        <p:nvSpPr>
          <p:cNvPr id="11" name="Text 9"/>
          <p:cNvSpPr/>
          <p:nvPr/>
        </p:nvSpPr>
        <p:spPr>
          <a:xfrm>
            <a:off x="1371600" y="4187952"/>
            <a:ext cx="5486400" cy="365760"/>
          </a:xfrm>
          <a:prstGeom prst="rect">
            <a:avLst/>
          </a:prstGeom>
          <a:noFill/>
          <a:ln/>
        </p:spPr>
        <p:txBody>
          <a:bodyPr wrap="square"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Kullanılan Kaynaklar (şeffaflık)</a:t>
            </a:r>
            <a:endParaRPr lang="en-US" sz="1300" dirty="0"/>
          </a:p>
        </p:txBody>
      </p:sp>
      <p:sp>
        <p:nvSpPr>
          <p:cNvPr id="12" name="Text 10"/>
          <p:cNvSpPr/>
          <p:nvPr/>
        </p:nvSpPr>
        <p:spPr>
          <a:xfrm>
            <a:off x="1371600" y="4572000"/>
            <a:ext cx="9144000" cy="1188720"/>
          </a:xfrm>
          <a:prstGeom prst="rect">
            <a:avLst/>
          </a:prstGeom>
          <a:noFill/>
          <a:ln/>
        </p:spPr>
        <p:txBody>
          <a:bodyPr wrap="square" rtlCol="0" anchor="ctr"/>
          <a:lstStyle/>
          <a:p>
            <a:pPr marL="0" indent="0">
              <a:spcAft>
                <a:spcPts val="800"/>
              </a:spcAft>
              <a:buNone/>
            </a:pPr>
            <a:r>
              <a:rPr lang="en-US" sz="1200" dirty="0">
                <a:solidFill>
                  <a:srgbClr val="CBD5E1"/>
                </a:solidFill>
                <a:latin typeface="Consolas" pitchFamily="34" charset="0"/>
                <a:ea typeface="Consolas" pitchFamily="34" charset="-122"/>
                <a:cs typeface="Consolas" pitchFamily="34" charset="-120"/>
              </a:rPr>
              <a:t>04_prompt_injection.txt   —   benzerlik skoru: 0.808</a:t>
            </a:r>
            <a:endParaRPr lang="en-US" sz="1200" dirty="0"/>
          </a:p>
          <a:p>
            <a:pPr marL="0" indent="0">
              <a:spcAft>
                <a:spcPts val="800"/>
              </a:spcAft>
              <a:buNone/>
            </a:pPr>
            <a:r>
              <a:rPr lang="en-US" sz="1200" dirty="0">
                <a:solidFill>
                  <a:srgbClr val="CBD5E1"/>
                </a:solidFill>
                <a:latin typeface="Consolas" pitchFamily="34" charset="0"/>
                <a:ea typeface="Consolas" pitchFamily="34" charset="-122"/>
                <a:cs typeface="Consolas" pitchFamily="34" charset="-120"/>
              </a:rPr>
              <a:t>04_prompt_injection.txt   —   benzerlik skoru: 0.707</a:t>
            </a:r>
            <a:endParaRPr lang="en-US" sz="1200" dirty="0"/>
          </a:p>
          <a:p>
            <a:pPr marL="0" indent="0">
              <a:spcAft>
                <a:spcPts val="800"/>
              </a:spcAft>
              <a:buNone/>
            </a:pPr>
            <a:r>
              <a:rPr lang="en-US" sz="1200" dirty="0">
                <a:solidFill>
                  <a:srgbClr val="CBD5E1"/>
                </a:solidFill>
                <a:latin typeface="Consolas" pitchFamily="34" charset="0"/>
                <a:ea typeface="Consolas" pitchFamily="34" charset="-122"/>
                <a:cs typeface="Consolas" pitchFamily="34" charset="-120"/>
              </a:rPr>
              <a:t>01_rag.txt                        —   benzerlik skoru: 0.604</a:t>
            </a:r>
            <a:endParaRPr lang="en-US" sz="1200" dirty="0"/>
          </a:p>
        </p:txBody>
      </p:sp>
      <p:sp>
        <p:nvSpPr>
          <p:cNvPr id="13" name="Text 11"/>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14" name="Text 12"/>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Canlı Örnek — Halüsinasyon Önleme</a:t>
            </a:r>
            <a:endParaRPr lang="en-US" sz="2700" dirty="0"/>
          </a:p>
        </p:txBody>
      </p:sp>
      <p:sp>
        <p:nvSpPr>
          <p:cNvPr id="3" name="Shape 1"/>
          <p:cNvSpPr/>
          <p:nvPr/>
        </p:nvSpPr>
        <p:spPr>
          <a:xfrm>
            <a:off x="822960" y="1280160"/>
            <a:ext cx="10561320" cy="2651760"/>
          </a:xfrm>
          <a:prstGeom prst="roundRect">
            <a:avLst>
              <a:gd name="adj" fmla="val 4138"/>
            </a:avLst>
          </a:prstGeom>
          <a:solidFill>
            <a:srgbClr val="0F172A"/>
          </a:solidFill>
          <a:ln w="12700">
            <a:solidFill>
              <a:srgbClr val="1E293B"/>
            </a:solidFill>
            <a:prstDash val="solid"/>
          </a:ln>
        </p:spPr>
        <p:txBody>
          <a:bodyPr/>
          <a:lstStyle/>
          <a:p>
            <a:endParaRPr lang="en-US"/>
          </a:p>
        </p:txBody>
      </p:sp>
      <p:sp>
        <p:nvSpPr>
          <p:cNvPr id="4" name="Shape 2"/>
          <p:cNvSpPr/>
          <p:nvPr/>
        </p:nvSpPr>
        <p:spPr>
          <a:xfrm>
            <a:off x="1143000" y="1554480"/>
            <a:ext cx="9921240" cy="685800"/>
          </a:xfrm>
          <a:prstGeom prst="roundRect">
            <a:avLst>
              <a:gd name="adj" fmla="val 10667"/>
            </a:avLst>
          </a:prstGeom>
          <a:solidFill>
            <a:srgbClr val="141F35"/>
          </a:solidFill>
          <a:ln/>
        </p:spPr>
        <p:txBody>
          <a:bodyPr/>
          <a:lstStyle/>
          <a:p>
            <a:endParaRPr lang="en-US"/>
          </a:p>
        </p:txBody>
      </p:sp>
      <p:sp>
        <p:nvSpPr>
          <p:cNvPr id="5" name="Text 3"/>
          <p:cNvSpPr/>
          <p:nvPr/>
        </p:nvSpPr>
        <p:spPr>
          <a:xfrm>
            <a:off x="1371600" y="1554480"/>
            <a:ext cx="1097280" cy="685800"/>
          </a:xfrm>
          <a:prstGeom prst="rect">
            <a:avLst/>
          </a:prstGeom>
          <a:noFill/>
          <a:ln/>
        </p:spPr>
        <p:txBody>
          <a:bodyPr wrap="square" rtlCol="0" anchor="ctr"/>
          <a:lstStyle/>
          <a:p>
            <a:pPr marL="0" indent="0">
              <a:buNone/>
            </a:pPr>
            <a:r>
              <a:rPr lang="en-US" sz="1400" b="1" dirty="0">
                <a:solidFill>
                  <a:srgbClr val="2DD4BF"/>
                </a:solidFill>
                <a:latin typeface="Consolas" pitchFamily="34" charset="0"/>
                <a:ea typeface="Consolas" pitchFamily="34" charset="-122"/>
                <a:cs typeface="Consolas" pitchFamily="34" charset="-120"/>
              </a:rPr>
              <a:t>Soru:</a:t>
            </a:r>
            <a:endParaRPr lang="en-US" sz="1400" dirty="0"/>
          </a:p>
        </p:txBody>
      </p:sp>
      <p:sp>
        <p:nvSpPr>
          <p:cNvPr id="6" name="Text 4"/>
          <p:cNvSpPr/>
          <p:nvPr/>
        </p:nvSpPr>
        <p:spPr>
          <a:xfrm>
            <a:off x="2377440" y="1554480"/>
            <a:ext cx="8412480" cy="685800"/>
          </a:xfrm>
          <a:prstGeom prst="rect">
            <a:avLst/>
          </a:prstGeom>
          <a:noFill/>
          <a:ln/>
        </p:spPr>
        <p:txBody>
          <a:bodyPr wrap="square"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Python'da for döngüsü nasıl yazılır?</a:t>
            </a:r>
            <a:endParaRPr lang="en-US" sz="1400" dirty="0"/>
          </a:p>
        </p:txBody>
      </p:sp>
      <p:sp>
        <p:nvSpPr>
          <p:cNvPr id="7" name="Shape 5"/>
          <p:cNvSpPr/>
          <p:nvPr/>
        </p:nvSpPr>
        <p:spPr>
          <a:xfrm>
            <a:off x="1143000" y="2423160"/>
            <a:ext cx="9921240" cy="1371600"/>
          </a:xfrm>
          <a:prstGeom prst="roundRect">
            <a:avLst>
              <a:gd name="adj" fmla="val 5333"/>
            </a:avLst>
          </a:prstGeom>
          <a:solidFill>
            <a:srgbClr val="1E1B2E"/>
          </a:solidFill>
          <a:ln w="12700">
            <a:solidFill>
              <a:srgbClr val="4ADE80"/>
            </a:solidFill>
            <a:prstDash val="solid"/>
          </a:ln>
        </p:spPr>
        <p:txBody>
          <a:bodyPr/>
          <a:lstStyle/>
          <a:p>
            <a:endParaRPr lang="en-US"/>
          </a:p>
        </p:txBody>
      </p:sp>
      <p:sp>
        <p:nvSpPr>
          <p:cNvPr id="8" name="Text 6"/>
          <p:cNvSpPr/>
          <p:nvPr/>
        </p:nvSpPr>
        <p:spPr>
          <a:xfrm>
            <a:off x="1371600" y="2560320"/>
            <a:ext cx="1371600" cy="365760"/>
          </a:xfrm>
          <a:prstGeom prst="rect">
            <a:avLst/>
          </a:prstGeom>
          <a:noFill/>
          <a:ln/>
        </p:spPr>
        <p:txBody>
          <a:bodyPr wrap="square" rtlCol="0" anchor="ctr"/>
          <a:lstStyle/>
          <a:p>
            <a:pPr marL="0" indent="0">
              <a:buNone/>
            </a:pPr>
            <a:r>
              <a:rPr lang="en-US" sz="1400" b="1" dirty="0">
                <a:solidFill>
                  <a:srgbClr val="4ADE80"/>
                </a:solidFill>
                <a:latin typeface="Consolas" pitchFamily="34" charset="0"/>
                <a:ea typeface="Consolas" pitchFamily="34" charset="-122"/>
                <a:cs typeface="Consolas" pitchFamily="34" charset="-120"/>
              </a:rPr>
              <a:t>Cevap:</a:t>
            </a:r>
            <a:endParaRPr lang="en-US" sz="1400" dirty="0"/>
          </a:p>
        </p:txBody>
      </p:sp>
      <p:sp>
        <p:nvSpPr>
          <p:cNvPr id="9" name="Text 7"/>
          <p:cNvSpPr/>
          <p:nvPr/>
        </p:nvSpPr>
        <p:spPr>
          <a:xfrm>
            <a:off x="1371600" y="2926080"/>
            <a:ext cx="9418320" cy="777240"/>
          </a:xfrm>
          <a:prstGeom prst="rect">
            <a:avLst/>
          </a:prstGeom>
          <a:noFill/>
          <a:ln/>
        </p:spPr>
        <p:txBody>
          <a:bodyPr wrap="square" rtlCol="0" anchor="ctr"/>
          <a:lstStyle/>
          <a:p>
            <a:pPr marL="0" indent="0">
              <a:lnSpc>
                <a:spcPct val="120000"/>
              </a:lnSpc>
              <a:buNone/>
            </a:pPr>
            <a:r>
              <a:rPr lang="en-US" sz="1300" i="1" dirty="0">
                <a:solidFill>
                  <a:srgbClr val="4ADE80"/>
                </a:solidFill>
                <a:latin typeface="Consolas" pitchFamily="34" charset="0"/>
                <a:ea typeface="Consolas" pitchFamily="34" charset="-122"/>
                <a:cs typeface="Consolas" pitchFamily="34" charset="-120"/>
              </a:rPr>
              <a:t>"Bu konuda elimde bilgi yok. Sadece yapay zeka ve siber güvenlik temelleri hakkında sorularınızı cevaplayabilirim."</a:t>
            </a:r>
            <a:endParaRPr lang="en-US" sz="1300" dirty="0"/>
          </a:p>
        </p:txBody>
      </p:sp>
      <p:sp>
        <p:nvSpPr>
          <p:cNvPr id="10" name="Shape 8"/>
          <p:cNvSpPr/>
          <p:nvPr/>
        </p:nvSpPr>
        <p:spPr>
          <a:xfrm>
            <a:off x="822960" y="4114800"/>
            <a:ext cx="10561320" cy="1874520"/>
          </a:xfrm>
          <a:prstGeom prst="roundRect">
            <a:avLst>
              <a:gd name="adj" fmla="val 5854"/>
            </a:avLst>
          </a:prstGeom>
          <a:solidFill>
            <a:srgbClr val="141F35"/>
          </a:solidFill>
          <a:ln/>
        </p:spPr>
        <p:txBody>
          <a:bodyPr/>
          <a:lstStyle/>
          <a:p>
            <a:endParaRPr lang="en-US"/>
          </a:p>
        </p:txBody>
      </p:sp>
      <p:sp>
        <p:nvSpPr>
          <p:cNvPr id="11" name="Text 9"/>
          <p:cNvSpPr/>
          <p:nvPr/>
        </p:nvSpPr>
        <p:spPr>
          <a:xfrm>
            <a:off x="1143000" y="4297680"/>
            <a:ext cx="4572000" cy="365760"/>
          </a:xfrm>
          <a:prstGeom prst="rect">
            <a:avLst/>
          </a:prstGeom>
          <a:noFill/>
          <a:ln/>
        </p:spPr>
        <p:txBody>
          <a:bodyPr wrap="square"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Nasıl Çalışıyor?</a:t>
            </a:r>
            <a:endParaRPr lang="en-US" sz="1500" dirty="0"/>
          </a:p>
        </p:txBody>
      </p:sp>
      <p:sp>
        <p:nvSpPr>
          <p:cNvPr id="12" name="Text 10"/>
          <p:cNvSpPr/>
          <p:nvPr/>
        </p:nvSpPr>
        <p:spPr>
          <a:xfrm>
            <a:off x="1143000" y="4709160"/>
            <a:ext cx="9966960" cy="1188720"/>
          </a:xfrm>
          <a:prstGeom prst="rect">
            <a:avLst/>
          </a:prstGeom>
          <a:noFill/>
          <a:ln/>
        </p:spPr>
        <p:txBody>
          <a:bodyPr wrap="square" rtlCol="0" anchor="ctr"/>
          <a:lstStyle/>
          <a:p>
            <a:pPr marL="0" indent="0">
              <a:lnSpc>
                <a:spcPct val="125000"/>
              </a:lnSpc>
              <a:buNone/>
            </a:pPr>
            <a:r>
              <a:rPr lang="en-US" sz="1250" dirty="0">
                <a:solidFill>
                  <a:srgbClr val="E2E8F0"/>
                </a:solidFill>
                <a:latin typeface="Calibri" pitchFamily="34" charset="0"/>
                <a:ea typeface="Calibri" pitchFamily="34" charset="-122"/>
                <a:cs typeface="Calibri" pitchFamily="34" charset="-120"/>
              </a:rPr>
              <a:t>En alakalı doküman parçasının benzerlik skoru bile 0.55 eşiğinin altında kalırsa (bu örnekte ~0.46), sistem modeli hiç çağırmadan doğrudan "bilgim yok" cevabı döndürür. Karar, modele değil, kod seviyesindeki bu kontrole bırakılır — bu, RAG sistemlerinde güvenilirlik için kritik bir mühendislik pratiğidir.</a:t>
            </a:r>
            <a:endParaRPr lang="en-US" sz="1250" dirty="0"/>
          </a:p>
        </p:txBody>
      </p:sp>
      <p:sp>
        <p:nvSpPr>
          <p:cNvPr id="13" name="Text 11"/>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14" name="Text 12"/>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Test Sonuçları</a:t>
            </a:r>
            <a:endParaRPr lang="en-US" sz="2700" dirty="0"/>
          </a:p>
        </p:txBody>
      </p:sp>
      <p:sp>
        <p:nvSpPr>
          <p:cNvPr id="3" name="Text 1"/>
          <p:cNvSpPr/>
          <p:nvPr/>
        </p:nvSpPr>
        <p:spPr>
          <a:xfrm>
            <a:off x="822960" y="1033272"/>
            <a:ext cx="10332720" cy="36576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5 farklı soru senaryosu ile sistem doğrulandı</a:t>
            </a:r>
            <a:endParaRPr lang="en-US" sz="1350" dirty="0"/>
          </a:p>
        </p:txBody>
      </p:sp>
      <p:sp>
        <p:nvSpPr>
          <p:cNvPr id="4" name="Text 2"/>
          <p:cNvSpPr/>
          <p:nvPr/>
        </p:nvSpPr>
        <p:spPr>
          <a:xfrm>
            <a:off x="822960" y="1554480"/>
            <a:ext cx="4206240" cy="548640"/>
          </a:xfrm>
          <a:prstGeom prst="rect">
            <a:avLst/>
          </a:prstGeom>
          <a:noFill/>
          <a:ln/>
        </p:spPr>
        <p:txBody>
          <a:bodyPr wrap="square" rtlCol="0" anchor="ctr"/>
          <a:lstStyle/>
          <a:p>
            <a:pPr marL="0" indent="0" algn="l">
              <a:buNone/>
            </a:pPr>
            <a:r>
              <a:rPr lang="en-US" sz="1300" b="1" dirty="0">
                <a:solidFill>
                  <a:srgbClr val="2DD4BF"/>
                </a:solidFill>
                <a:latin typeface="Calibri" pitchFamily="34" charset="0"/>
                <a:ea typeface="Calibri" pitchFamily="34" charset="-122"/>
                <a:cs typeface="Calibri" pitchFamily="34" charset="-120"/>
              </a:rPr>
              <a:t>Soru</a:t>
            </a:r>
            <a:endParaRPr lang="en-US" sz="1300" dirty="0"/>
          </a:p>
        </p:txBody>
      </p:sp>
      <p:sp>
        <p:nvSpPr>
          <p:cNvPr id="5" name="Text 3"/>
          <p:cNvSpPr/>
          <p:nvPr/>
        </p:nvSpPr>
        <p:spPr>
          <a:xfrm>
            <a:off x="5029200" y="1554480"/>
            <a:ext cx="2468880" cy="548640"/>
          </a:xfrm>
          <a:prstGeom prst="rect">
            <a:avLst/>
          </a:prstGeom>
          <a:noFill/>
          <a:ln/>
        </p:spPr>
        <p:txBody>
          <a:bodyPr wrap="square" rtlCol="0" anchor="ctr"/>
          <a:lstStyle/>
          <a:p>
            <a:pPr marL="0" indent="0" algn="l">
              <a:buNone/>
            </a:pPr>
            <a:r>
              <a:rPr lang="en-US" sz="1300" b="1" dirty="0">
                <a:solidFill>
                  <a:srgbClr val="2DD4BF"/>
                </a:solidFill>
                <a:latin typeface="Calibri" pitchFamily="34" charset="0"/>
                <a:ea typeface="Calibri" pitchFamily="34" charset="-122"/>
                <a:cs typeface="Calibri" pitchFamily="34" charset="-120"/>
              </a:rPr>
              <a:t>Beklenen</a:t>
            </a:r>
            <a:endParaRPr lang="en-US" sz="1300" dirty="0"/>
          </a:p>
        </p:txBody>
      </p:sp>
      <p:sp>
        <p:nvSpPr>
          <p:cNvPr id="6" name="Text 4"/>
          <p:cNvSpPr/>
          <p:nvPr/>
        </p:nvSpPr>
        <p:spPr>
          <a:xfrm>
            <a:off x="7498080" y="1554480"/>
            <a:ext cx="2743200" cy="548640"/>
          </a:xfrm>
          <a:prstGeom prst="rect">
            <a:avLst/>
          </a:prstGeom>
          <a:noFill/>
          <a:ln/>
        </p:spPr>
        <p:txBody>
          <a:bodyPr wrap="square" rtlCol="0" anchor="ctr"/>
          <a:lstStyle/>
          <a:p>
            <a:pPr marL="0" indent="0" algn="l">
              <a:buNone/>
            </a:pPr>
            <a:r>
              <a:rPr lang="en-US" sz="1300" b="1" dirty="0">
                <a:solidFill>
                  <a:srgbClr val="2DD4BF"/>
                </a:solidFill>
                <a:latin typeface="Calibri" pitchFamily="34" charset="0"/>
                <a:ea typeface="Calibri" pitchFamily="34" charset="-122"/>
                <a:cs typeface="Calibri" pitchFamily="34" charset="-120"/>
              </a:rPr>
              <a:t>Sonuç</a:t>
            </a:r>
            <a:endParaRPr lang="en-US" sz="1300" dirty="0"/>
          </a:p>
        </p:txBody>
      </p:sp>
      <p:sp>
        <p:nvSpPr>
          <p:cNvPr id="7" name="Text 5"/>
          <p:cNvSpPr/>
          <p:nvPr/>
        </p:nvSpPr>
        <p:spPr>
          <a:xfrm>
            <a:off x="10241280" y="1554480"/>
            <a:ext cx="1143000" cy="548640"/>
          </a:xfrm>
          <a:prstGeom prst="rect">
            <a:avLst/>
          </a:prstGeom>
          <a:noFill/>
          <a:ln/>
        </p:spPr>
        <p:txBody>
          <a:bodyPr wrap="square" rtlCol="0" anchor="ctr"/>
          <a:lstStyle/>
          <a:p>
            <a:pPr marL="0" indent="0" algn="ctr">
              <a:buNone/>
            </a:pPr>
            <a:r>
              <a:rPr lang="en-US" sz="1300" b="1" dirty="0">
                <a:solidFill>
                  <a:srgbClr val="2DD4BF"/>
                </a:solidFill>
                <a:latin typeface="Calibri" pitchFamily="34" charset="0"/>
                <a:ea typeface="Calibri" pitchFamily="34" charset="-122"/>
                <a:cs typeface="Calibri" pitchFamily="34" charset="-120"/>
              </a:rPr>
              <a:t>Skor</a:t>
            </a:r>
            <a:endParaRPr lang="en-US" sz="1300" dirty="0"/>
          </a:p>
        </p:txBody>
      </p:sp>
      <p:sp>
        <p:nvSpPr>
          <p:cNvPr id="8" name="Text 6"/>
          <p:cNvSpPr/>
          <p:nvPr/>
        </p:nvSpPr>
        <p:spPr>
          <a:xfrm>
            <a:off x="822960" y="2103120"/>
            <a:ext cx="420624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Prompt injection nedir?</a:t>
            </a:r>
            <a:endParaRPr lang="en-US" sz="1200" dirty="0"/>
          </a:p>
        </p:txBody>
      </p:sp>
      <p:sp>
        <p:nvSpPr>
          <p:cNvPr id="9" name="Text 7"/>
          <p:cNvSpPr/>
          <p:nvPr/>
        </p:nvSpPr>
        <p:spPr>
          <a:xfrm>
            <a:off x="5029200" y="2103120"/>
            <a:ext cx="246888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Doğru kaynak + cevap</a:t>
            </a:r>
            <a:endParaRPr lang="en-US" sz="1200" dirty="0"/>
          </a:p>
        </p:txBody>
      </p:sp>
      <p:sp>
        <p:nvSpPr>
          <p:cNvPr id="10" name="Text 8"/>
          <p:cNvSpPr/>
          <p:nvPr/>
        </p:nvSpPr>
        <p:spPr>
          <a:xfrm>
            <a:off x="7498080" y="2103120"/>
            <a:ext cx="2743200" cy="548640"/>
          </a:xfrm>
          <a:prstGeom prst="rect">
            <a:avLst/>
          </a:prstGeom>
          <a:noFill/>
          <a:ln/>
        </p:spPr>
        <p:txBody>
          <a:bodyPr wrap="square" rtlCol="0" anchor="ctr"/>
          <a:lstStyle/>
          <a:p>
            <a:pPr marL="0" indent="0" algn="l">
              <a:buNone/>
            </a:pPr>
            <a:r>
              <a:rPr lang="en-US" sz="1200" dirty="0">
                <a:solidFill>
                  <a:srgbClr val="4ADE80"/>
                </a:solidFill>
                <a:latin typeface="Calibri" pitchFamily="34" charset="0"/>
                <a:ea typeface="Calibri" pitchFamily="34" charset="-122"/>
                <a:cs typeface="Calibri" pitchFamily="34" charset="-120"/>
              </a:rPr>
              <a:t>Başarılı</a:t>
            </a:r>
            <a:endParaRPr lang="en-US" sz="1200" dirty="0"/>
          </a:p>
        </p:txBody>
      </p:sp>
      <p:sp>
        <p:nvSpPr>
          <p:cNvPr id="11" name="Text 9"/>
          <p:cNvSpPr/>
          <p:nvPr/>
        </p:nvSpPr>
        <p:spPr>
          <a:xfrm>
            <a:off x="10241280" y="2103120"/>
            <a:ext cx="1143000" cy="54864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0.81</a:t>
            </a:r>
            <a:endParaRPr lang="en-US" sz="1200" dirty="0"/>
          </a:p>
        </p:txBody>
      </p:sp>
      <p:sp>
        <p:nvSpPr>
          <p:cNvPr id="12" name="Shape 10"/>
          <p:cNvSpPr/>
          <p:nvPr/>
        </p:nvSpPr>
        <p:spPr>
          <a:xfrm>
            <a:off x="822960" y="2651760"/>
            <a:ext cx="10561320" cy="548640"/>
          </a:xfrm>
          <a:prstGeom prst="rect">
            <a:avLst/>
          </a:prstGeom>
          <a:solidFill>
            <a:srgbClr val="141F35"/>
          </a:solidFill>
          <a:ln/>
        </p:spPr>
        <p:txBody>
          <a:bodyPr/>
          <a:lstStyle/>
          <a:p>
            <a:endParaRPr lang="en-US"/>
          </a:p>
        </p:txBody>
      </p:sp>
      <p:sp>
        <p:nvSpPr>
          <p:cNvPr id="13" name="Text 11"/>
          <p:cNvSpPr/>
          <p:nvPr/>
        </p:nvSpPr>
        <p:spPr>
          <a:xfrm>
            <a:off x="822960" y="2651760"/>
            <a:ext cx="420624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2FA nasıl çalışır?</a:t>
            </a:r>
            <a:endParaRPr lang="en-US" sz="1200" dirty="0"/>
          </a:p>
        </p:txBody>
      </p:sp>
      <p:sp>
        <p:nvSpPr>
          <p:cNvPr id="14" name="Text 12"/>
          <p:cNvSpPr/>
          <p:nvPr/>
        </p:nvSpPr>
        <p:spPr>
          <a:xfrm>
            <a:off x="5029200" y="2651760"/>
            <a:ext cx="246888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Doğru kaynak + cevap</a:t>
            </a:r>
            <a:endParaRPr lang="en-US" sz="1200" dirty="0"/>
          </a:p>
        </p:txBody>
      </p:sp>
      <p:sp>
        <p:nvSpPr>
          <p:cNvPr id="15" name="Text 13"/>
          <p:cNvSpPr/>
          <p:nvPr/>
        </p:nvSpPr>
        <p:spPr>
          <a:xfrm>
            <a:off x="7498080" y="2651760"/>
            <a:ext cx="2743200" cy="548640"/>
          </a:xfrm>
          <a:prstGeom prst="rect">
            <a:avLst/>
          </a:prstGeom>
          <a:noFill/>
          <a:ln/>
        </p:spPr>
        <p:txBody>
          <a:bodyPr wrap="square" rtlCol="0" anchor="ctr"/>
          <a:lstStyle/>
          <a:p>
            <a:pPr marL="0" indent="0" algn="l">
              <a:buNone/>
            </a:pPr>
            <a:r>
              <a:rPr lang="en-US" sz="1200" dirty="0">
                <a:solidFill>
                  <a:srgbClr val="4ADE80"/>
                </a:solidFill>
                <a:latin typeface="Calibri" pitchFamily="34" charset="0"/>
                <a:ea typeface="Calibri" pitchFamily="34" charset="-122"/>
                <a:cs typeface="Calibri" pitchFamily="34" charset="-120"/>
              </a:rPr>
              <a:t>Başarılı</a:t>
            </a:r>
            <a:endParaRPr lang="en-US" sz="1200" dirty="0"/>
          </a:p>
        </p:txBody>
      </p:sp>
      <p:sp>
        <p:nvSpPr>
          <p:cNvPr id="16" name="Text 14"/>
          <p:cNvSpPr/>
          <p:nvPr/>
        </p:nvSpPr>
        <p:spPr>
          <a:xfrm>
            <a:off x="10241280" y="2651760"/>
            <a:ext cx="1143000" cy="54864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0.69</a:t>
            </a:r>
            <a:endParaRPr lang="en-US" sz="1200" dirty="0"/>
          </a:p>
        </p:txBody>
      </p:sp>
      <p:sp>
        <p:nvSpPr>
          <p:cNvPr id="17" name="Text 15"/>
          <p:cNvSpPr/>
          <p:nvPr/>
        </p:nvSpPr>
        <p:spPr>
          <a:xfrm>
            <a:off x="822960" y="3200400"/>
            <a:ext cx="420624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Fine-tuning ile RAG farkı?</a:t>
            </a:r>
            <a:endParaRPr lang="en-US" sz="1200" dirty="0"/>
          </a:p>
        </p:txBody>
      </p:sp>
      <p:sp>
        <p:nvSpPr>
          <p:cNvPr id="18" name="Text 16"/>
          <p:cNvSpPr/>
          <p:nvPr/>
        </p:nvSpPr>
        <p:spPr>
          <a:xfrm>
            <a:off x="5029200" y="3200400"/>
            <a:ext cx="246888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Doğru kaynak + cevap</a:t>
            </a:r>
            <a:endParaRPr lang="en-US" sz="1200" dirty="0"/>
          </a:p>
        </p:txBody>
      </p:sp>
      <p:sp>
        <p:nvSpPr>
          <p:cNvPr id="19" name="Text 17"/>
          <p:cNvSpPr/>
          <p:nvPr/>
        </p:nvSpPr>
        <p:spPr>
          <a:xfrm>
            <a:off x="7498080" y="3200400"/>
            <a:ext cx="2743200" cy="548640"/>
          </a:xfrm>
          <a:prstGeom prst="rect">
            <a:avLst/>
          </a:prstGeom>
          <a:noFill/>
          <a:ln/>
        </p:spPr>
        <p:txBody>
          <a:bodyPr wrap="square" rtlCol="0" anchor="ctr"/>
          <a:lstStyle/>
          <a:p>
            <a:pPr marL="0" indent="0" algn="l">
              <a:buNone/>
            </a:pPr>
            <a:r>
              <a:rPr lang="en-US" sz="1200" dirty="0">
                <a:solidFill>
                  <a:srgbClr val="4ADE80"/>
                </a:solidFill>
                <a:latin typeface="Calibri" pitchFamily="34" charset="0"/>
                <a:ea typeface="Calibri" pitchFamily="34" charset="-122"/>
                <a:cs typeface="Calibri" pitchFamily="34" charset="-120"/>
              </a:rPr>
              <a:t>Başarılı</a:t>
            </a:r>
            <a:endParaRPr lang="en-US" sz="1200" dirty="0"/>
          </a:p>
        </p:txBody>
      </p:sp>
      <p:sp>
        <p:nvSpPr>
          <p:cNvPr id="20" name="Text 18"/>
          <p:cNvSpPr/>
          <p:nvPr/>
        </p:nvSpPr>
        <p:spPr>
          <a:xfrm>
            <a:off x="10241280" y="3200400"/>
            <a:ext cx="1143000" cy="54864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0.81</a:t>
            </a:r>
            <a:endParaRPr lang="en-US" sz="1200" dirty="0"/>
          </a:p>
        </p:txBody>
      </p:sp>
      <p:sp>
        <p:nvSpPr>
          <p:cNvPr id="21" name="Shape 19"/>
          <p:cNvSpPr/>
          <p:nvPr/>
        </p:nvSpPr>
        <p:spPr>
          <a:xfrm>
            <a:off x="822960" y="3749040"/>
            <a:ext cx="10561320" cy="548640"/>
          </a:xfrm>
          <a:prstGeom prst="rect">
            <a:avLst/>
          </a:prstGeom>
          <a:solidFill>
            <a:srgbClr val="141F35"/>
          </a:solidFill>
          <a:ln/>
        </p:spPr>
        <p:txBody>
          <a:bodyPr/>
          <a:lstStyle/>
          <a:p>
            <a:endParaRPr lang="en-US"/>
          </a:p>
        </p:txBody>
      </p:sp>
      <p:sp>
        <p:nvSpPr>
          <p:cNvPr id="22" name="Text 20"/>
          <p:cNvSpPr/>
          <p:nvPr/>
        </p:nvSpPr>
        <p:spPr>
          <a:xfrm>
            <a:off x="822960" y="3749040"/>
            <a:ext cx="420624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Python for döngüsü? (alakasız)</a:t>
            </a:r>
            <a:endParaRPr lang="en-US" sz="1200" dirty="0"/>
          </a:p>
        </p:txBody>
      </p:sp>
      <p:sp>
        <p:nvSpPr>
          <p:cNvPr id="23" name="Text 21"/>
          <p:cNvSpPr/>
          <p:nvPr/>
        </p:nvSpPr>
        <p:spPr>
          <a:xfrm>
            <a:off x="5029200" y="3749040"/>
            <a:ext cx="246888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"Bilgim yok"</a:t>
            </a:r>
            <a:endParaRPr lang="en-US" sz="1200" dirty="0"/>
          </a:p>
        </p:txBody>
      </p:sp>
      <p:sp>
        <p:nvSpPr>
          <p:cNvPr id="24" name="Text 22"/>
          <p:cNvSpPr/>
          <p:nvPr/>
        </p:nvSpPr>
        <p:spPr>
          <a:xfrm>
            <a:off x="7498080" y="3749040"/>
            <a:ext cx="2743200" cy="548640"/>
          </a:xfrm>
          <a:prstGeom prst="rect">
            <a:avLst/>
          </a:prstGeom>
          <a:noFill/>
          <a:ln/>
        </p:spPr>
        <p:txBody>
          <a:bodyPr wrap="square" rtlCol="0" anchor="ctr"/>
          <a:lstStyle/>
          <a:p>
            <a:pPr marL="0" indent="0" algn="l">
              <a:buNone/>
            </a:pPr>
            <a:r>
              <a:rPr lang="en-US" sz="1200" dirty="0">
                <a:solidFill>
                  <a:srgbClr val="4ADE80"/>
                </a:solidFill>
                <a:latin typeface="Calibri" pitchFamily="34" charset="0"/>
                <a:ea typeface="Calibri" pitchFamily="34" charset="-122"/>
                <a:cs typeface="Calibri" pitchFamily="34" charset="-120"/>
              </a:rPr>
              <a:t>Başarılı (düzeltme sonrası)</a:t>
            </a:r>
            <a:endParaRPr lang="en-US" sz="1200" dirty="0"/>
          </a:p>
        </p:txBody>
      </p:sp>
      <p:sp>
        <p:nvSpPr>
          <p:cNvPr id="25" name="Text 23"/>
          <p:cNvSpPr/>
          <p:nvPr/>
        </p:nvSpPr>
        <p:spPr>
          <a:xfrm>
            <a:off x="10241280" y="3749040"/>
            <a:ext cx="1143000" cy="54864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0.46</a:t>
            </a:r>
            <a:endParaRPr lang="en-US" sz="1200" dirty="0"/>
          </a:p>
        </p:txBody>
      </p:sp>
      <p:sp>
        <p:nvSpPr>
          <p:cNvPr id="26" name="Text 24"/>
          <p:cNvSpPr/>
          <p:nvPr/>
        </p:nvSpPr>
        <p:spPr>
          <a:xfrm>
            <a:off x="822960" y="4297680"/>
            <a:ext cx="420624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zero day (kısa/belirsiz)</a:t>
            </a:r>
            <a:endParaRPr lang="en-US" sz="1200" dirty="0"/>
          </a:p>
        </p:txBody>
      </p:sp>
      <p:sp>
        <p:nvSpPr>
          <p:cNvPr id="27" name="Text 25"/>
          <p:cNvSpPr/>
          <p:nvPr/>
        </p:nvSpPr>
        <p:spPr>
          <a:xfrm>
            <a:off x="5029200" y="4297680"/>
            <a:ext cx="2468880" cy="548640"/>
          </a:xfrm>
          <a:prstGeom prst="rect">
            <a:avLst/>
          </a:prstGeom>
          <a:noFill/>
          <a:ln/>
        </p:spPr>
        <p:txBody>
          <a:bodyPr wrap="square" rtlCol="0" anchor="ctr"/>
          <a:lstStyle/>
          <a:p>
            <a:pPr marL="0" indent="0" algn="l">
              <a:buNone/>
            </a:pPr>
            <a:r>
              <a:rPr lang="en-US" sz="1200" dirty="0">
                <a:solidFill>
                  <a:srgbClr val="E2E8F0"/>
                </a:solidFill>
                <a:latin typeface="Calibri" pitchFamily="34" charset="0"/>
                <a:ea typeface="Calibri" pitchFamily="34" charset="-122"/>
                <a:cs typeface="Calibri" pitchFamily="34" charset="-120"/>
              </a:rPr>
              <a:t>Doğru kaynak + cevap</a:t>
            </a:r>
            <a:endParaRPr lang="en-US" sz="1200" dirty="0"/>
          </a:p>
        </p:txBody>
      </p:sp>
      <p:sp>
        <p:nvSpPr>
          <p:cNvPr id="28" name="Text 26"/>
          <p:cNvSpPr/>
          <p:nvPr/>
        </p:nvSpPr>
        <p:spPr>
          <a:xfrm>
            <a:off x="7498080" y="4297680"/>
            <a:ext cx="2743200" cy="548640"/>
          </a:xfrm>
          <a:prstGeom prst="rect">
            <a:avLst/>
          </a:prstGeom>
          <a:noFill/>
          <a:ln/>
        </p:spPr>
        <p:txBody>
          <a:bodyPr wrap="square" rtlCol="0" anchor="ctr"/>
          <a:lstStyle/>
          <a:p>
            <a:pPr marL="0" indent="0" algn="l">
              <a:buNone/>
            </a:pPr>
            <a:r>
              <a:rPr lang="en-US" sz="1200" dirty="0">
                <a:solidFill>
                  <a:srgbClr val="4ADE80"/>
                </a:solidFill>
                <a:latin typeface="Calibri" pitchFamily="34" charset="0"/>
                <a:ea typeface="Calibri" pitchFamily="34" charset="-122"/>
                <a:cs typeface="Calibri" pitchFamily="34" charset="-120"/>
              </a:rPr>
              <a:t>Başarılı</a:t>
            </a:r>
            <a:endParaRPr lang="en-US" sz="1200" dirty="0"/>
          </a:p>
        </p:txBody>
      </p:sp>
      <p:sp>
        <p:nvSpPr>
          <p:cNvPr id="29" name="Text 27"/>
          <p:cNvSpPr/>
          <p:nvPr/>
        </p:nvSpPr>
        <p:spPr>
          <a:xfrm>
            <a:off x="10241280" y="4297680"/>
            <a:ext cx="1143000" cy="548640"/>
          </a:xfrm>
          <a:prstGeom prst="rect">
            <a:avLst/>
          </a:prstGeom>
          <a:noFill/>
          <a:ln/>
        </p:spPr>
        <p:txBody>
          <a:bodyPr wrap="square" rtlCol="0" anchor="ctr"/>
          <a:lstStyle/>
          <a:p>
            <a:pPr marL="0" indent="0" algn="ctr">
              <a:buNone/>
            </a:pPr>
            <a:r>
              <a:rPr lang="en-US" sz="1200" dirty="0">
                <a:solidFill>
                  <a:srgbClr val="E2E8F0"/>
                </a:solidFill>
                <a:latin typeface="Calibri" pitchFamily="34" charset="0"/>
                <a:ea typeface="Calibri" pitchFamily="34" charset="-122"/>
                <a:cs typeface="Calibri" pitchFamily="34" charset="-120"/>
              </a:rPr>
              <a:t>0.59</a:t>
            </a:r>
            <a:endParaRPr lang="en-US" sz="1200" dirty="0"/>
          </a:p>
        </p:txBody>
      </p:sp>
      <p:sp>
        <p:nvSpPr>
          <p:cNvPr id="30" name="Shape 28"/>
          <p:cNvSpPr/>
          <p:nvPr/>
        </p:nvSpPr>
        <p:spPr>
          <a:xfrm>
            <a:off x="822960" y="2103120"/>
            <a:ext cx="10561320" cy="0"/>
          </a:xfrm>
          <a:prstGeom prst="line">
            <a:avLst/>
          </a:prstGeom>
          <a:noFill/>
          <a:ln w="12700">
            <a:solidFill>
              <a:srgbClr val="334155"/>
            </a:solidFill>
            <a:prstDash val="solid"/>
          </a:ln>
        </p:spPr>
        <p:txBody>
          <a:bodyPr/>
          <a:lstStyle/>
          <a:p>
            <a:endParaRPr lang="en-US"/>
          </a:p>
        </p:txBody>
      </p:sp>
      <p:sp>
        <p:nvSpPr>
          <p:cNvPr id="31" name="Shape 29"/>
          <p:cNvSpPr/>
          <p:nvPr/>
        </p:nvSpPr>
        <p:spPr>
          <a:xfrm>
            <a:off x="822960" y="5166360"/>
            <a:ext cx="10561320" cy="868680"/>
          </a:xfrm>
          <a:prstGeom prst="roundRect">
            <a:avLst>
              <a:gd name="adj" fmla="val 10526"/>
            </a:avLst>
          </a:prstGeom>
          <a:solidFill>
            <a:srgbClr val="111827"/>
          </a:solidFill>
          <a:ln w="12700">
            <a:solidFill>
              <a:srgbClr val="4ADE80"/>
            </a:solidFill>
            <a:prstDash val="solid"/>
          </a:ln>
        </p:spPr>
        <p:txBody>
          <a:bodyPr/>
          <a:lstStyle/>
          <a:p>
            <a:endParaRPr lang="en-US"/>
          </a:p>
        </p:txBody>
      </p:sp>
      <p:sp>
        <p:nvSpPr>
          <p:cNvPr id="32" name="Text 30"/>
          <p:cNvSpPr/>
          <p:nvPr/>
        </p:nvSpPr>
        <p:spPr>
          <a:xfrm>
            <a:off x="1097280" y="5166360"/>
            <a:ext cx="10058400" cy="868680"/>
          </a:xfrm>
          <a:prstGeom prst="rect">
            <a:avLst/>
          </a:prstGeom>
          <a:noFill/>
          <a:ln/>
        </p:spPr>
        <p:txBody>
          <a:bodyPr wrap="square" rtlCol="0" anchor="ctr"/>
          <a:lstStyle/>
          <a:p>
            <a:pPr marL="0" indent="0" algn="ctr">
              <a:buNone/>
            </a:pPr>
            <a:r>
              <a:rPr lang="en-US" sz="1250" b="1" dirty="0">
                <a:solidFill>
                  <a:srgbClr val="4ADE80"/>
                </a:solidFill>
                <a:latin typeface="Calibri" pitchFamily="34" charset="0"/>
                <a:ea typeface="Calibri" pitchFamily="34" charset="-122"/>
                <a:cs typeface="Calibri" pitchFamily="34" charset="-120"/>
              </a:rPr>
              <a:t>Sonuç: Sistem hem alakalı sorularda doğru kaynak buluyor, hem de alakasız sorularda halüsinasyon üretmeden dürüst cevap veriyor.</a:t>
            </a:r>
            <a:endParaRPr lang="en-US" sz="1250" dirty="0"/>
          </a:p>
        </p:txBody>
      </p:sp>
      <p:sp>
        <p:nvSpPr>
          <p:cNvPr id="33" name="Text 31"/>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34" name="Text 32"/>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Öğrendiklerim</a:t>
            </a:r>
            <a:endParaRPr lang="en-US" sz="2700" dirty="0"/>
          </a:p>
        </p:txBody>
      </p:sp>
      <p:sp>
        <p:nvSpPr>
          <p:cNvPr id="3" name="Shape 1"/>
          <p:cNvSpPr/>
          <p:nvPr/>
        </p:nvSpPr>
        <p:spPr>
          <a:xfrm>
            <a:off x="822960" y="1417320"/>
            <a:ext cx="10561320" cy="914400"/>
          </a:xfrm>
          <a:prstGeom prst="roundRect">
            <a:avLst>
              <a:gd name="adj" fmla="val 10000"/>
            </a:avLst>
          </a:prstGeom>
          <a:solidFill>
            <a:srgbClr val="141F35"/>
          </a:solidFill>
          <a:ln/>
        </p:spPr>
        <p:txBody>
          <a:bodyPr/>
          <a:lstStyle/>
          <a:p>
            <a:endParaRPr lang="en-US"/>
          </a:p>
        </p:txBody>
      </p:sp>
      <p:sp>
        <p:nvSpPr>
          <p:cNvPr id="4" name="Shape 2"/>
          <p:cNvSpPr/>
          <p:nvPr/>
        </p:nvSpPr>
        <p:spPr>
          <a:xfrm>
            <a:off x="1097280" y="1691640"/>
            <a:ext cx="365760" cy="365760"/>
          </a:xfrm>
          <a:prstGeom prst="ellipse">
            <a:avLst/>
          </a:prstGeom>
          <a:solidFill>
            <a:srgbClr val="2DD4BF">
              <a:alpha val="80000"/>
            </a:srgbClr>
          </a:solidFill>
          <a:ln/>
        </p:spPr>
        <p:txBody>
          <a:bodyPr/>
          <a:lstStyle/>
          <a:p>
            <a:endParaRPr lang="en-US"/>
          </a:p>
        </p:txBody>
      </p:sp>
      <p:sp>
        <p:nvSpPr>
          <p:cNvPr id="5" name="Text 3"/>
          <p:cNvSpPr/>
          <p:nvPr/>
        </p:nvSpPr>
        <p:spPr>
          <a:xfrm>
            <a:off x="1097280" y="1691640"/>
            <a:ext cx="365760" cy="365760"/>
          </a:xfrm>
          <a:prstGeom prst="rect">
            <a:avLst/>
          </a:prstGeom>
          <a:noFill/>
          <a:ln/>
        </p:spPr>
        <p:txBody>
          <a:bodyPr wrap="square"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645920" y="1508760"/>
            <a:ext cx="40233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RAG Mimarisi</a:t>
            </a:r>
            <a:endParaRPr lang="en-US" sz="1400" dirty="0"/>
          </a:p>
        </p:txBody>
      </p:sp>
      <p:sp>
        <p:nvSpPr>
          <p:cNvPr id="7" name="Text 5"/>
          <p:cNvSpPr/>
          <p:nvPr/>
        </p:nvSpPr>
        <p:spPr>
          <a:xfrm>
            <a:off x="1645920" y="1856232"/>
            <a:ext cx="8686800" cy="411480"/>
          </a:xfrm>
          <a:prstGeom prst="rect">
            <a:avLst/>
          </a:prstGeom>
          <a:noFill/>
          <a:ln/>
        </p:spPr>
        <p:txBody>
          <a:bodyPr wrap="square" rtlCol="0" anchor="ctr"/>
          <a:lstStyle/>
          <a:p>
            <a:pPr marL="0" indent="0">
              <a:buNone/>
            </a:pPr>
            <a:r>
              <a:rPr lang="en-US" sz="1150" dirty="0">
                <a:solidFill>
                  <a:srgbClr val="94A3B8"/>
                </a:solidFill>
                <a:latin typeface="Calibri" pitchFamily="34" charset="0"/>
                <a:ea typeface="Calibri" pitchFamily="34" charset="-122"/>
                <a:cs typeface="Calibri" pitchFamily="34" charset="-120"/>
              </a:rPr>
              <a:t>Retrieve → Augment → Generate döngüsünün uçtan uca nasıl kurulduğu</a:t>
            </a:r>
            <a:endParaRPr lang="en-US" sz="1150" dirty="0"/>
          </a:p>
        </p:txBody>
      </p:sp>
      <p:sp>
        <p:nvSpPr>
          <p:cNvPr id="8" name="Shape 6"/>
          <p:cNvSpPr/>
          <p:nvPr/>
        </p:nvSpPr>
        <p:spPr>
          <a:xfrm>
            <a:off x="822960" y="2468880"/>
            <a:ext cx="10561320" cy="914400"/>
          </a:xfrm>
          <a:prstGeom prst="roundRect">
            <a:avLst>
              <a:gd name="adj" fmla="val 10000"/>
            </a:avLst>
          </a:prstGeom>
          <a:solidFill>
            <a:srgbClr val="141F35"/>
          </a:solidFill>
          <a:ln/>
        </p:spPr>
        <p:txBody>
          <a:bodyPr/>
          <a:lstStyle/>
          <a:p>
            <a:endParaRPr lang="en-US"/>
          </a:p>
        </p:txBody>
      </p:sp>
      <p:sp>
        <p:nvSpPr>
          <p:cNvPr id="9" name="Shape 7"/>
          <p:cNvSpPr/>
          <p:nvPr/>
        </p:nvSpPr>
        <p:spPr>
          <a:xfrm>
            <a:off x="1097280" y="2743200"/>
            <a:ext cx="365760" cy="365760"/>
          </a:xfrm>
          <a:prstGeom prst="ellipse">
            <a:avLst/>
          </a:prstGeom>
          <a:solidFill>
            <a:srgbClr val="2DD4BF">
              <a:alpha val="80000"/>
            </a:srgbClr>
          </a:solidFill>
          <a:ln/>
        </p:spPr>
        <p:txBody>
          <a:bodyPr/>
          <a:lstStyle/>
          <a:p>
            <a:endParaRPr lang="en-US"/>
          </a:p>
        </p:txBody>
      </p:sp>
      <p:sp>
        <p:nvSpPr>
          <p:cNvPr id="10" name="Text 8"/>
          <p:cNvSpPr/>
          <p:nvPr/>
        </p:nvSpPr>
        <p:spPr>
          <a:xfrm>
            <a:off x="1097280" y="2743200"/>
            <a:ext cx="365760" cy="365760"/>
          </a:xfrm>
          <a:prstGeom prst="rect">
            <a:avLst/>
          </a:prstGeom>
          <a:noFill/>
          <a:ln/>
        </p:spPr>
        <p:txBody>
          <a:bodyPr wrap="square"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645920" y="2560320"/>
            <a:ext cx="40233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Embedding &amp; Vektör Arama</a:t>
            </a:r>
            <a:endParaRPr lang="en-US" sz="1400" dirty="0"/>
          </a:p>
        </p:txBody>
      </p:sp>
      <p:sp>
        <p:nvSpPr>
          <p:cNvPr id="12" name="Text 10"/>
          <p:cNvSpPr/>
          <p:nvPr/>
        </p:nvSpPr>
        <p:spPr>
          <a:xfrm>
            <a:off x="1645920" y="2907792"/>
            <a:ext cx="8686800" cy="411480"/>
          </a:xfrm>
          <a:prstGeom prst="rect">
            <a:avLst/>
          </a:prstGeom>
          <a:noFill/>
          <a:ln/>
        </p:spPr>
        <p:txBody>
          <a:bodyPr wrap="square" rtlCol="0" anchor="ctr"/>
          <a:lstStyle/>
          <a:p>
            <a:pPr marL="0" indent="0">
              <a:buNone/>
            </a:pPr>
            <a:r>
              <a:rPr lang="en-US" sz="1150" dirty="0">
                <a:solidFill>
                  <a:srgbClr val="94A3B8"/>
                </a:solidFill>
                <a:latin typeface="Calibri" pitchFamily="34" charset="0"/>
                <a:ea typeface="Calibri" pitchFamily="34" charset="-122"/>
                <a:cs typeface="Calibri" pitchFamily="34" charset="-120"/>
              </a:rPr>
              <a:t>Metnin anlamını sayısal vektöre çevirip kosinüs benzerliğiyle karşılaştırma</a:t>
            </a:r>
            <a:endParaRPr lang="en-US" sz="1150" dirty="0"/>
          </a:p>
        </p:txBody>
      </p:sp>
      <p:sp>
        <p:nvSpPr>
          <p:cNvPr id="13" name="Shape 11"/>
          <p:cNvSpPr/>
          <p:nvPr/>
        </p:nvSpPr>
        <p:spPr>
          <a:xfrm>
            <a:off x="822960" y="3520440"/>
            <a:ext cx="10561320" cy="914400"/>
          </a:xfrm>
          <a:prstGeom prst="roundRect">
            <a:avLst>
              <a:gd name="adj" fmla="val 10000"/>
            </a:avLst>
          </a:prstGeom>
          <a:solidFill>
            <a:srgbClr val="141F35"/>
          </a:solidFill>
          <a:ln/>
        </p:spPr>
        <p:txBody>
          <a:bodyPr/>
          <a:lstStyle/>
          <a:p>
            <a:endParaRPr lang="en-US"/>
          </a:p>
        </p:txBody>
      </p:sp>
      <p:sp>
        <p:nvSpPr>
          <p:cNvPr id="14" name="Shape 12"/>
          <p:cNvSpPr/>
          <p:nvPr/>
        </p:nvSpPr>
        <p:spPr>
          <a:xfrm>
            <a:off x="1097280" y="3794760"/>
            <a:ext cx="365760" cy="365760"/>
          </a:xfrm>
          <a:prstGeom prst="ellipse">
            <a:avLst/>
          </a:prstGeom>
          <a:solidFill>
            <a:srgbClr val="2DD4BF">
              <a:alpha val="80000"/>
            </a:srgbClr>
          </a:solidFill>
          <a:ln/>
        </p:spPr>
        <p:txBody>
          <a:bodyPr/>
          <a:lstStyle/>
          <a:p>
            <a:endParaRPr lang="en-US"/>
          </a:p>
        </p:txBody>
      </p:sp>
      <p:sp>
        <p:nvSpPr>
          <p:cNvPr id="15" name="Text 13"/>
          <p:cNvSpPr/>
          <p:nvPr/>
        </p:nvSpPr>
        <p:spPr>
          <a:xfrm>
            <a:off x="1097280" y="3794760"/>
            <a:ext cx="365760" cy="365760"/>
          </a:xfrm>
          <a:prstGeom prst="rect">
            <a:avLst/>
          </a:prstGeom>
          <a:noFill/>
          <a:ln/>
        </p:spPr>
        <p:txBody>
          <a:bodyPr wrap="square"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645920" y="3611880"/>
            <a:ext cx="40233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Yerel LLM Çalıştırma</a:t>
            </a:r>
            <a:endParaRPr lang="en-US" sz="1400" dirty="0"/>
          </a:p>
        </p:txBody>
      </p:sp>
      <p:sp>
        <p:nvSpPr>
          <p:cNvPr id="17" name="Text 15"/>
          <p:cNvSpPr/>
          <p:nvPr/>
        </p:nvSpPr>
        <p:spPr>
          <a:xfrm>
            <a:off x="1645920" y="3959352"/>
            <a:ext cx="8686800" cy="411480"/>
          </a:xfrm>
          <a:prstGeom prst="rect">
            <a:avLst/>
          </a:prstGeom>
          <a:noFill/>
          <a:ln/>
        </p:spPr>
        <p:txBody>
          <a:bodyPr wrap="square" rtlCol="0" anchor="ctr"/>
          <a:lstStyle/>
          <a:p>
            <a:pPr marL="0" indent="0">
              <a:buNone/>
            </a:pPr>
            <a:r>
              <a:rPr lang="en-US" sz="1150" dirty="0">
                <a:solidFill>
                  <a:srgbClr val="94A3B8"/>
                </a:solidFill>
                <a:latin typeface="Calibri" pitchFamily="34" charset="0"/>
                <a:ea typeface="Calibri" pitchFamily="34" charset="-122"/>
                <a:cs typeface="Calibri" pitchFamily="34" charset="-120"/>
              </a:rPr>
              <a:t>GPU/CPU uyumluluğu, model versiyonlama gibi pratik zorluklar</a:t>
            </a:r>
            <a:endParaRPr lang="en-US" sz="1150" dirty="0"/>
          </a:p>
        </p:txBody>
      </p:sp>
      <p:sp>
        <p:nvSpPr>
          <p:cNvPr id="18" name="Shape 16"/>
          <p:cNvSpPr/>
          <p:nvPr/>
        </p:nvSpPr>
        <p:spPr>
          <a:xfrm>
            <a:off x="822960" y="4572000"/>
            <a:ext cx="10561320" cy="914400"/>
          </a:xfrm>
          <a:prstGeom prst="roundRect">
            <a:avLst>
              <a:gd name="adj" fmla="val 10000"/>
            </a:avLst>
          </a:prstGeom>
          <a:solidFill>
            <a:srgbClr val="141F35"/>
          </a:solidFill>
          <a:ln/>
        </p:spPr>
        <p:txBody>
          <a:bodyPr/>
          <a:lstStyle/>
          <a:p>
            <a:endParaRPr lang="en-US"/>
          </a:p>
        </p:txBody>
      </p:sp>
      <p:sp>
        <p:nvSpPr>
          <p:cNvPr id="19" name="Shape 17"/>
          <p:cNvSpPr/>
          <p:nvPr/>
        </p:nvSpPr>
        <p:spPr>
          <a:xfrm>
            <a:off x="1097280" y="4846320"/>
            <a:ext cx="365760" cy="365760"/>
          </a:xfrm>
          <a:prstGeom prst="ellipse">
            <a:avLst/>
          </a:prstGeom>
          <a:solidFill>
            <a:srgbClr val="2DD4BF">
              <a:alpha val="80000"/>
            </a:srgbClr>
          </a:solidFill>
          <a:ln/>
        </p:spPr>
        <p:txBody>
          <a:bodyPr/>
          <a:lstStyle/>
          <a:p>
            <a:endParaRPr lang="en-US"/>
          </a:p>
        </p:txBody>
      </p:sp>
      <p:sp>
        <p:nvSpPr>
          <p:cNvPr id="20" name="Text 18"/>
          <p:cNvSpPr/>
          <p:nvPr/>
        </p:nvSpPr>
        <p:spPr>
          <a:xfrm>
            <a:off x="1097280" y="4846320"/>
            <a:ext cx="365760" cy="365760"/>
          </a:xfrm>
          <a:prstGeom prst="rect">
            <a:avLst/>
          </a:prstGeom>
          <a:noFill/>
          <a:ln/>
        </p:spPr>
        <p:txBody>
          <a:bodyPr wrap="square"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645920" y="4663440"/>
            <a:ext cx="40233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Güvenilirlik Mühendisliği</a:t>
            </a:r>
            <a:endParaRPr lang="en-US" sz="1400" dirty="0"/>
          </a:p>
        </p:txBody>
      </p:sp>
      <p:sp>
        <p:nvSpPr>
          <p:cNvPr id="22" name="Text 20"/>
          <p:cNvSpPr/>
          <p:nvPr/>
        </p:nvSpPr>
        <p:spPr>
          <a:xfrm>
            <a:off x="1645920" y="5010912"/>
            <a:ext cx="8686800" cy="411480"/>
          </a:xfrm>
          <a:prstGeom prst="rect">
            <a:avLst/>
          </a:prstGeom>
          <a:noFill/>
          <a:ln/>
        </p:spPr>
        <p:txBody>
          <a:bodyPr wrap="square" rtlCol="0" anchor="ctr"/>
          <a:lstStyle/>
          <a:p>
            <a:pPr marL="0" indent="0">
              <a:buNone/>
            </a:pPr>
            <a:r>
              <a:rPr lang="en-US" sz="1150" dirty="0">
                <a:solidFill>
                  <a:srgbClr val="94A3B8"/>
                </a:solidFill>
                <a:latin typeface="Calibri" pitchFamily="34" charset="0"/>
                <a:ea typeface="Calibri" pitchFamily="34" charset="-122"/>
                <a:cs typeface="Calibri" pitchFamily="34" charset="-120"/>
              </a:rPr>
              <a:t>Halüsinasyonu skor eşiğiyle azaltan bir güvenlik katmanı tasarlamak</a:t>
            </a:r>
            <a:endParaRPr lang="en-US" sz="1150" dirty="0"/>
          </a:p>
        </p:txBody>
      </p:sp>
      <p:sp>
        <p:nvSpPr>
          <p:cNvPr id="23" name="Shape 21"/>
          <p:cNvSpPr/>
          <p:nvPr/>
        </p:nvSpPr>
        <p:spPr>
          <a:xfrm>
            <a:off x="822960" y="5623560"/>
            <a:ext cx="10561320" cy="914400"/>
          </a:xfrm>
          <a:prstGeom prst="roundRect">
            <a:avLst>
              <a:gd name="adj" fmla="val 10000"/>
            </a:avLst>
          </a:prstGeom>
          <a:solidFill>
            <a:srgbClr val="141F35"/>
          </a:solidFill>
          <a:ln/>
        </p:spPr>
        <p:txBody>
          <a:bodyPr/>
          <a:lstStyle/>
          <a:p>
            <a:endParaRPr lang="en-US"/>
          </a:p>
        </p:txBody>
      </p:sp>
      <p:sp>
        <p:nvSpPr>
          <p:cNvPr id="24" name="Shape 22"/>
          <p:cNvSpPr/>
          <p:nvPr/>
        </p:nvSpPr>
        <p:spPr>
          <a:xfrm>
            <a:off x="1097280" y="5897880"/>
            <a:ext cx="365760" cy="365760"/>
          </a:xfrm>
          <a:prstGeom prst="ellipse">
            <a:avLst/>
          </a:prstGeom>
          <a:solidFill>
            <a:srgbClr val="2DD4BF">
              <a:alpha val="80000"/>
            </a:srgbClr>
          </a:solidFill>
          <a:ln/>
        </p:spPr>
        <p:txBody>
          <a:bodyPr/>
          <a:lstStyle/>
          <a:p>
            <a:endParaRPr lang="en-US"/>
          </a:p>
        </p:txBody>
      </p:sp>
      <p:sp>
        <p:nvSpPr>
          <p:cNvPr id="25" name="Text 23"/>
          <p:cNvSpPr/>
          <p:nvPr/>
        </p:nvSpPr>
        <p:spPr>
          <a:xfrm>
            <a:off x="1097280" y="5897880"/>
            <a:ext cx="365760" cy="365760"/>
          </a:xfrm>
          <a:prstGeom prst="rect">
            <a:avLst/>
          </a:prstGeom>
          <a:noFill/>
          <a:ln/>
        </p:spPr>
        <p:txBody>
          <a:bodyPr wrap="square" rtlCol="0" anchor="ctr"/>
          <a:lstStyle/>
          <a:p>
            <a:pPr marL="0" indent="0" algn="ctr">
              <a:buNone/>
            </a:pPr>
            <a:r>
              <a:rPr lang="en-US" sz="1400" b="1" dirty="0">
                <a:solidFill>
                  <a:srgbClr val="0B1220"/>
                </a:solidFill>
                <a:latin typeface="Calibri" pitchFamily="34" charset="0"/>
                <a:ea typeface="Calibri" pitchFamily="34" charset="-122"/>
                <a:cs typeface="Calibri" pitchFamily="34" charset="-120"/>
              </a:rPr>
              <a:t>5</a:t>
            </a:r>
            <a:endParaRPr lang="en-US" sz="1400" dirty="0"/>
          </a:p>
        </p:txBody>
      </p:sp>
      <p:sp>
        <p:nvSpPr>
          <p:cNvPr id="26" name="Text 24"/>
          <p:cNvSpPr/>
          <p:nvPr/>
        </p:nvSpPr>
        <p:spPr>
          <a:xfrm>
            <a:off x="1645920" y="5715000"/>
            <a:ext cx="40233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Proje Yönetimi</a:t>
            </a:r>
            <a:endParaRPr lang="en-US" sz="1400" dirty="0"/>
          </a:p>
        </p:txBody>
      </p:sp>
      <p:sp>
        <p:nvSpPr>
          <p:cNvPr id="27" name="Text 25"/>
          <p:cNvSpPr/>
          <p:nvPr/>
        </p:nvSpPr>
        <p:spPr>
          <a:xfrm>
            <a:off x="1645920" y="6062472"/>
            <a:ext cx="8686800" cy="411480"/>
          </a:xfrm>
          <a:prstGeom prst="rect">
            <a:avLst/>
          </a:prstGeom>
          <a:noFill/>
          <a:ln/>
        </p:spPr>
        <p:txBody>
          <a:bodyPr wrap="square" rtlCol="0" anchor="ctr"/>
          <a:lstStyle/>
          <a:p>
            <a:pPr marL="0" indent="0">
              <a:buNone/>
            </a:pPr>
            <a:r>
              <a:rPr lang="en-US" sz="1150" dirty="0">
                <a:solidFill>
                  <a:srgbClr val="94A3B8"/>
                </a:solidFill>
                <a:latin typeface="Calibri" pitchFamily="34" charset="0"/>
                <a:ea typeface="Calibri" pitchFamily="34" charset="-122"/>
                <a:cs typeface="Calibri" pitchFamily="34" charset="-120"/>
              </a:rPr>
              <a:t>Git/GitHub ile versiyon kontrolü, README ile dokümantasyon</a:t>
            </a:r>
            <a:endParaRPr lang="en-US" sz="1150" dirty="0"/>
          </a:p>
        </p:txBody>
      </p:sp>
      <p:sp>
        <p:nvSpPr>
          <p:cNvPr id="28" name="Text 26"/>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29" name="Text 27"/>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594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Geliştirilebilecek Noktalar</a:t>
            </a:r>
            <a:endParaRPr lang="en-US" sz="2700" dirty="0"/>
          </a:p>
        </p:txBody>
      </p:sp>
      <p:sp>
        <p:nvSpPr>
          <p:cNvPr id="3" name="Shape 1"/>
          <p:cNvSpPr/>
          <p:nvPr/>
        </p:nvSpPr>
        <p:spPr>
          <a:xfrm>
            <a:off x="822960" y="1554480"/>
            <a:ext cx="5074920" cy="2011680"/>
          </a:xfrm>
          <a:prstGeom prst="roundRect">
            <a:avLst>
              <a:gd name="adj" fmla="val 5455"/>
            </a:avLst>
          </a:prstGeom>
          <a:solidFill>
            <a:srgbClr val="141F35"/>
          </a:solidFill>
          <a:ln/>
        </p:spPr>
        <p:txBody>
          <a:bodyPr/>
          <a:lstStyle/>
          <a:p>
            <a:endParaRPr lang="en-US"/>
          </a:p>
        </p:txBody>
      </p:sp>
      <p:sp>
        <p:nvSpPr>
          <p:cNvPr id="4" name="Shape 2"/>
          <p:cNvSpPr/>
          <p:nvPr/>
        </p:nvSpPr>
        <p:spPr>
          <a:xfrm>
            <a:off x="1097280" y="1828800"/>
            <a:ext cx="457200" cy="457200"/>
          </a:xfrm>
          <a:prstGeom prst="roundRect">
            <a:avLst>
              <a:gd name="adj" fmla="val 16000"/>
            </a:avLst>
          </a:prstGeom>
          <a:solidFill>
            <a:srgbClr val="60A5FA"/>
          </a:solidFill>
          <a:ln/>
        </p:spPr>
        <p:txBody>
          <a:bodyPr/>
          <a:lstStyle/>
          <a:p>
            <a:endParaRPr lang="en-US"/>
          </a:p>
        </p:txBody>
      </p:sp>
      <p:sp>
        <p:nvSpPr>
          <p:cNvPr id="5" name="Text 3"/>
          <p:cNvSpPr/>
          <p:nvPr/>
        </p:nvSpPr>
        <p:spPr>
          <a:xfrm>
            <a:off x="1097280" y="2468880"/>
            <a:ext cx="452628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Gerçek Vektör Veritabanı</a:t>
            </a:r>
            <a:endParaRPr lang="en-US" sz="1500" dirty="0"/>
          </a:p>
        </p:txBody>
      </p:sp>
      <p:sp>
        <p:nvSpPr>
          <p:cNvPr id="6" name="Text 4"/>
          <p:cNvSpPr/>
          <p:nvPr/>
        </p:nvSpPr>
        <p:spPr>
          <a:xfrm>
            <a:off x="1097280" y="2926080"/>
            <a:ext cx="4526280" cy="5486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Büyük ölçekli veri setleri için ChromaDB/FAISS gibi araçlara geçiş</a:t>
            </a:r>
            <a:endParaRPr lang="en-US" sz="1200" dirty="0"/>
          </a:p>
        </p:txBody>
      </p:sp>
      <p:sp>
        <p:nvSpPr>
          <p:cNvPr id="7" name="Shape 5"/>
          <p:cNvSpPr/>
          <p:nvPr/>
        </p:nvSpPr>
        <p:spPr>
          <a:xfrm>
            <a:off x="6217920" y="1554480"/>
            <a:ext cx="5074920" cy="2011680"/>
          </a:xfrm>
          <a:prstGeom prst="roundRect">
            <a:avLst>
              <a:gd name="adj" fmla="val 5455"/>
            </a:avLst>
          </a:prstGeom>
          <a:solidFill>
            <a:srgbClr val="141F35"/>
          </a:solidFill>
          <a:ln/>
        </p:spPr>
        <p:txBody>
          <a:bodyPr/>
          <a:lstStyle/>
          <a:p>
            <a:endParaRPr lang="en-US"/>
          </a:p>
        </p:txBody>
      </p:sp>
      <p:sp>
        <p:nvSpPr>
          <p:cNvPr id="8" name="Shape 6"/>
          <p:cNvSpPr/>
          <p:nvPr/>
        </p:nvSpPr>
        <p:spPr>
          <a:xfrm>
            <a:off x="6492240" y="1828800"/>
            <a:ext cx="457200" cy="457200"/>
          </a:xfrm>
          <a:prstGeom prst="roundRect">
            <a:avLst>
              <a:gd name="adj" fmla="val 16000"/>
            </a:avLst>
          </a:prstGeom>
          <a:solidFill>
            <a:srgbClr val="2DD4BF"/>
          </a:solidFill>
          <a:ln/>
        </p:spPr>
        <p:txBody>
          <a:bodyPr/>
          <a:lstStyle/>
          <a:p>
            <a:endParaRPr lang="en-US"/>
          </a:p>
        </p:txBody>
      </p:sp>
      <p:sp>
        <p:nvSpPr>
          <p:cNvPr id="9" name="Text 7"/>
          <p:cNvSpPr/>
          <p:nvPr/>
        </p:nvSpPr>
        <p:spPr>
          <a:xfrm>
            <a:off x="6492240" y="2468880"/>
            <a:ext cx="452628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Web Arayüzü</a:t>
            </a:r>
            <a:endParaRPr lang="en-US" sz="1500" dirty="0"/>
          </a:p>
        </p:txBody>
      </p:sp>
      <p:sp>
        <p:nvSpPr>
          <p:cNvPr id="10" name="Text 8"/>
          <p:cNvSpPr/>
          <p:nvPr/>
        </p:nvSpPr>
        <p:spPr>
          <a:xfrm>
            <a:off x="6492240" y="2926080"/>
            <a:ext cx="4526280" cy="5486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Streamlit ile tarayıcı üzerinden kullanılabilir bir arayüz</a:t>
            </a:r>
            <a:endParaRPr lang="en-US" sz="1200" dirty="0"/>
          </a:p>
        </p:txBody>
      </p:sp>
      <p:sp>
        <p:nvSpPr>
          <p:cNvPr id="11" name="Shape 9"/>
          <p:cNvSpPr/>
          <p:nvPr/>
        </p:nvSpPr>
        <p:spPr>
          <a:xfrm>
            <a:off x="822960" y="3886200"/>
            <a:ext cx="5074920" cy="2011680"/>
          </a:xfrm>
          <a:prstGeom prst="roundRect">
            <a:avLst>
              <a:gd name="adj" fmla="val 5455"/>
            </a:avLst>
          </a:prstGeom>
          <a:solidFill>
            <a:srgbClr val="141F35"/>
          </a:solidFill>
          <a:ln/>
        </p:spPr>
        <p:txBody>
          <a:bodyPr/>
          <a:lstStyle/>
          <a:p>
            <a:endParaRPr lang="en-US"/>
          </a:p>
        </p:txBody>
      </p:sp>
      <p:sp>
        <p:nvSpPr>
          <p:cNvPr id="12" name="Shape 10"/>
          <p:cNvSpPr/>
          <p:nvPr/>
        </p:nvSpPr>
        <p:spPr>
          <a:xfrm>
            <a:off x="1097280" y="4160520"/>
            <a:ext cx="457200" cy="457200"/>
          </a:xfrm>
          <a:prstGeom prst="roundRect">
            <a:avLst>
              <a:gd name="adj" fmla="val 16000"/>
            </a:avLst>
          </a:prstGeom>
          <a:solidFill>
            <a:srgbClr val="F59E0B"/>
          </a:solidFill>
          <a:ln/>
        </p:spPr>
        <p:txBody>
          <a:bodyPr/>
          <a:lstStyle/>
          <a:p>
            <a:endParaRPr lang="en-US"/>
          </a:p>
        </p:txBody>
      </p:sp>
      <p:sp>
        <p:nvSpPr>
          <p:cNvPr id="13" name="Text 11"/>
          <p:cNvSpPr/>
          <p:nvPr/>
        </p:nvSpPr>
        <p:spPr>
          <a:xfrm>
            <a:off x="1097280" y="4800600"/>
            <a:ext cx="452628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Kaynak Tekilleştirme İyileştirmesi</a:t>
            </a:r>
            <a:endParaRPr lang="en-US" sz="1500" dirty="0"/>
          </a:p>
        </p:txBody>
      </p:sp>
      <p:sp>
        <p:nvSpPr>
          <p:cNvPr id="14" name="Text 12"/>
          <p:cNvSpPr/>
          <p:nvPr/>
        </p:nvSpPr>
        <p:spPr>
          <a:xfrm>
            <a:off x="1097280" y="5257800"/>
            <a:ext cx="4526280" cy="5486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Aynı dosyadan gelen parçaların daha akıllı birleştirilmesi</a:t>
            </a:r>
            <a:endParaRPr lang="en-US" sz="1200" dirty="0"/>
          </a:p>
        </p:txBody>
      </p:sp>
      <p:sp>
        <p:nvSpPr>
          <p:cNvPr id="15" name="Shape 13"/>
          <p:cNvSpPr/>
          <p:nvPr/>
        </p:nvSpPr>
        <p:spPr>
          <a:xfrm>
            <a:off x="6217920" y="3886200"/>
            <a:ext cx="5074920" cy="2011680"/>
          </a:xfrm>
          <a:prstGeom prst="roundRect">
            <a:avLst>
              <a:gd name="adj" fmla="val 5455"/>
            </a:avLst>
          </a:prstGeom>
          <a:solidFill>
            <a:srgbClr val="141F35"/>
          </a:solidFill>
          <a:ln/>
        </p:spPr>
        <p:txBody>
          <a:bodyPr/>
          <a:lstStyle/>
          <a:p>
            <a:endParaRPr lang="en-US"/>
          </a:p>
        </p:txBody>
      </p:sp>
      <p:sp>
        <p:nvSpPr>
          <p:cNvPr id="16" name="Shape 14"/>
          <p:cNvSpPr/>
          <p:nvPr/>
        </p:nvSpPr>
        <p:spPr>
          <a:xfrm>
            <a:off x="6492240" y="4160520"/>
            <a:ext cx="457200" cy="457200"/>
          </a:xfrm>
          <a:prstGeom prst="roundRect">
            <a:avLst>
              <a:gd name="adj" fmla="val 16000"/>
            </a:avLst>
          </a:prstGeom>
          <a:solidFill>
            <a:srgbClr val="A78BFA"/>
          </a:solidFill>
          <a:ln/>
        </p:spPr>
        <p:txBody>
          <a:bodyPr/>
          <a:lstStyle/>
          <a:p>
            <a:endParaRPr lang="en-US"/>
          </a:p>
        </p:txBody>
      </p:sp>
      <p:sp>
        <p:nvSpPr>
          <p:cNvPr id="17" name="Text 15"/>
          <p:cNvSpPr/>
          <p:nvPr/>
        </p:nvSpPr>
        <p:spPr>
          <a:xfrm>
            <a:off x="6492240" y="4800600"/>
            <a:ext cx="452628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Çoklu Dil Desteği</a:t>
            </a:r>
            <a:endParaRPr lang="en-US" sz="1500" dirty="0"/>
          </a:p>
        </p:txBody>
      </p:sp>
      <p:sp>
        <p:nvSpPr>
          <p:cNvPr id="18" name="Text 16"/>
          <p:cNvSpPr/>
          <p:nvPr/>
        </p:nvSpPr>
        <p:spPr>
          <a:xfrm>
            <a:off x="6492240" y="5257800"/>
            <a:ext cx="4526280" cy="54864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İngilizce ve diğer dillerde de test edilmesi</a:t>
            </a:r>
            <a:endParaRPr lang="en-US" sz="1200" dirty="0"/>
          </a:p>
        </p:txBody>
      </p:sp>
      <p:sp>
        <p:nvSpPr>
          <p:cNvPr id="19" name="Text 17"/>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20" name="Text 18"/>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8961120" y="-1371600"/>
            <a:ext cx="5486400" cy="5486400"/>
          </a:xfrm>
          <a:prstGeom prst="ellipse">
            <a:avLst/>
          </a:prstGeom>
          <a:solidFill>
            <a:srgbClr val="0F766E">
              <a:alpha val="30000"/>
            </a:srgbClr>
          </a:solidFill>
          <a:ln/>
        </p:spPr>
        <p:txBody>
          <a:bodyPr/>
          <a:lstStyle/>
          <a:p>
            <a:endParaRPr lang="en-US"/>
          </a:p>
        </p:txBody>
      </p:sp>
      <p:sp>
        <p:nvSpPr>
          <p:cNvPr id="3" name="Text 1"/>
          <p:cNvSpPr/>
          <p:nvPr/>
        </p:nvSpPr>
        <p:spPr>
          <a:xfrm>
            <a:off x="822960" y="2286000"/>
            <a:ext cx="8229600" cy="91440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Teşekkürler!</a:t>
            </a:r>
            <a:endParaRPr lang="en-US" sz="4200" dirty="0"/>
          </a:p>
        </p:txBody>
      </p:sp>
      <p:sp>
        <p:nvSpPr>
          <p:cNvPr id="4" name="Text 2"/>
          <p:cNvSpPr/>
          <p:nvPr/>
        </p:nvSpPr>
        <p:spPr>
          <a:xfrm>
            <a:off x="822960" y="3063240"/>
            <a:ext cx="8229600" cy="457200"/>
          </a:xfrm>
          <a:prstGeom prst="rect">
            <a:avLst/>
          </a:prstGeom>
          <a:noFill/>
          <a:ln/>
        </p:spPr>
        <p:txBody>
          <a:bodyPr wrap="square" rtlCol="0" anchor="ctr"/>
          <a:lstStyle/>
          <a:p>
            <a:pPr marL="0" indent="0">
              <a:buNone/>
            </a:pPr>
            <a:r>
              <a:rPr lang="tr-TR" sz="1600">
                <a:solidFill>
                  <a:schemeClr val="bg1"/>
                </a:solidFill>
              </a:rPr>
              <a:t>NUREFŞAN GÜRSOY</a:t>
            </a:r>
            <a:endParaRPr lang="en-US" sz="1600" dirty="0">
              <a:solidFill>
                <a:schemeClr val="bg1"/>
              </a:solidFill>
            </a:endParaRPr>
          </a:p>
        </p:txBody>
      </p:sp>
      <p:sp>
        <p:nvSpPr>
          <p:cNvPr id="5" name="Shape 3"/>
          <p:cNvSpPr/>
          <p:nvPr/>
        </p:nvSpPr>
        <p:spPr>
          <a:xfrm>
            <a:off x="822960" y="4023360"/>
            <a:ext cx="6035040" cy="685800"/>
          </a:xfrm>
          <a:prstGeom prst="roundRect">
            <a:avLst>
              <a:gd name="adj" fmla="val 13333"/>
            </a:avLst>
          </a:prstGeom>
          <a:solidFill>
            <a:srgbClr val="141F35"/>
          </a:solidFill>
          <a:ln/>
        </p:spPr>
        <p:txBody>
          <a:bodyPr/>
          <a:lstStyle/>
          <a:p>
            <a:endParaRPr lang="en-US"/>
          </a:p>
        </p:txBody>
      </p:sp>
      <p:sp>
        <p:nvSpPr>
          <p:cNvPr id="6" name="Text 4"/>
          <p:cNvSpPr/>
          <p:nvPr/>
        </p:nvSpPr>
        <p:spPr>
          <a:xfrm>
            <a:off x="1051560" y="4023360"/>
            <a:ext cx="5577840" cy="685800"/>
          </a:xfrm>
          <a:prstGeom prst="rect">
            <a:avLst/>
          </a:prstGeom>
          <a:noFill/>
          <a:ln/>
        </p:spPr>
        <p:txBody>
          <a:bodyPr wrap="square" rtlCol="0" anchor="ctr"/>
          <a:lstStyle/>
          <a:p>
            <a:pPr marL="0" indent="0">
              <a:buNone/>
            </a:pPr>
            <a:r>
              <a:rPr lang="en-US" sz="1300" dirty="0">
                <a:solidFill>
                  <a:srgbClr val="2DD4BF"/>
                </a:solidFill>
                <a:latin typeface="Consolas" pitchFamily="34" charset="0"/>
                <a:ea typeface="Consolas" pitchFamily="34" charset="-122"/>
                <a:cs typeface="Consolas" pitchFamily="34" charset="-120"/>
              </a:rPr>
              <a:t>GitHub:  github.com/nurefsann07/local-rag-assistant</a:t>
            </a:r>
            <a:endParaRPr lang="en-US" sz="1300" dirty="0"/>
          </a:p>
        </p:txBody>
      </p:sp>
      <p:sp>
        <p:nvSpPr>
          <p:cNvPr id="7" name="Text 5"/>
          <p:cNvSpPr/>
          <p:nvPr/>
        </p:nvSpPr>
        <p:spPr>
          <a:xfrm>
            <a:off x="457200" y="6537960"/>
            <a:ext cx="7315200" cy="27432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Yerel RAG Asistanı  ·  Microsoft Summer School</a:t>
            </a:r>
            <a:endParaRPr lang="en-US" sz="1000" dirty="0"/>
          </a:p>
        </p:txBody>
      </p:sp>
      <p:sp>
        <p:nvSpPr>
          <p:cNvPr id="8" name="Text 6"/>
          <p:cNvSpPr/>
          <p:nvPr/>
        </p:nvSpPr>
        <p:spPr>
          <a:xfrm>
            <a:off x="11521440" y="6537960"/>
            <a:ext cx="457200" cy="274320"/>
          </a:xfrm>
          <a:prstGeom prst="rect">
            <a:avLst/>
          </a:prstGeom>
          <a:noFill/>
          <a:ln/>
        </p:spPr>
        <p:txBody>
          <a:bodyPr wrap="square"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1726</Words>
  <Application>Microsoft Office PowerPoint</Application>
  <PresentationFormat>Widescreen</PresentationFormat>
  <Paragraphs>354</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Nurefşan Gürsoy</cp:lastModifiedBy>
  <cp:revision>3</cp:revision>
  <dcterms:created xsi:type="dcterms:W3CDTF">2026-08-03T17:07:57Z</dcterms:created>
  <dcterms:modified xsi:type="dcterms:W3CDTF">2026-08-05T07:53:02Z</dcterms:modified>
</cp:coreProperties>
</file>